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373c00c9d5349b6" /><Relationship Type="http://schemas.openxmlformats.org/officeDocument/2006/relationships/extended-properties" Target="/docProps/app.xml" Id="R2615dc25548a4d35" /><Relationship Type="http://schemas.openxmlformats.org/officeDocument/2006/relationships/officeDocument" Target="/ppt/presentation.xml" Id="R1a8dae7d11594b22" /></Relationships>
</file>

<file path=ppt/presentation.xml><?xml version="1.0" encoding="utf-8"?>
<p:presentation xmlns:p="http://schemas.openxmlformats.org/presentationml/2006/main">
  <p:sldMasterIdLst>
    <p:sldMasterId xmlns:r="http://schemas.openxmlformats.org/officeDocument/2006/relationships" id="2147483648" r:id="R5657e3a9c4ba4530"/>
  </p:sldMasterIdLst>
  <p:notesMasterIdLst>
    <p:notesMasterId xmlns:r="http://schemas.openxmlformats.org/officeDocument/2006/relationships" r:id="R99994da0755d4b7f"/>
  </p:notesMasterIdLst>
  <p:sldIdLst>
    <p:sldId xmlns:r="http://schemas.openxmlformats.org/officeDocument/2006/relationships" id="256" r:id="R16be835ec032497f"/>
    <p:sldId xmlns:r="http://schemas.openxmlformats.org/officeDocument/2006/relationships" id="257" r:id="R910c3cf78f7342fe"/>
    <p:sldId xmlns:r="http://schemas.openxmlformats.org/officeDocument/2006/relationships" id="258" r:id="Rad3146f89e884c20"/>
    <p:sldId xmlns:r="http://schemas.openxmlformats.org/officeDocument/2006/relationships" id="259" r:id="R4f8c47d85b5f4ecb"/>
    <p:sldId xmlns:r="http://schemas.openxmlformats.org/officeDocument/2006/relationships" id="260" r:id="Rf0ff0670b79d4e3f"/>
    <p:sldId xmlns:r="http://schemas.openxmlformats.org/officeDocument/2006/relationships" id="261" r:id="Rdb36a905fc3c48fd"/>
    <p:sldId xmlns:r="http://schemas.openxmlformats.org/officeDocument/2006/relationships" id="262" r:id="R0b61c17f4f7540e1"/>
    <p:sldId xmlns:r="http://schemas.openxmlformats.org/officeDocument/2006/relationships" id="263" r:id="Rdbe3fa4eae4341bf"/>
    <p:sldId xmlns:r="http://schemas.openxmlformats.org/officeDocument/2006/relationships" id="264" r:id="R56d91388c12149c0"/>
    <p:sldId xmlns:r="http://schemas.openxmlformats.org/officeDocument/2006/relationships" id="265" r:id="Rf6dd0714e6b24303"/>
    <p:sldId xmlns:r="http://schemas.openxmlformats.org/officeDocument/2006/relationships" id="266" r:id="Ra73ecc0274b6421f"/>
    <p:sldId xmlns:r="http://schemas.openxmlformats.org/officeDocument/2006/relationships" id="267" r:id="Rc8b28cc589744f64"/>
    <p:sldId xmlns:r="http://schemas.openxmlformats.org/officeDocument/2006/relationships" id="268" r:id="R05bed4f091474d4e"/>
    <p:sldId xmlns:r="http://schemas.openxmlformats.org/officeDocument/2006/relationships" id="269" r:id="R3815397ff9ef41c4"/>
    <p:sldId xmlns:r="http://schemas.openxmlformats.org/officeDocument/2006/relationships" id="270" r:id="Rda15a14812744a2f"/>
    <p:sldId xmlns:r="http://schemas.openxmlformats.org/officeDocument/2006/relationships" id="271" r:id="R332fe01e5dd349bb"/>
    <p:sldId xmlns:r="http://schemas.openxmlformats.org/officeDocument/2006/relationships" id="272" r:id="R04e402488d7043b4"/>
    <p:sldId xmlns:r="http://schemas.openxmlformats.org/officeDocument/2006/relationships" id="273" r:id="Re8461271b658421d"/>
    <p:sldId xmlns:r="http://schemas.openxmlformats.org/officeDocument/2006/relationships" id="274" r:id="R591717352ea6495c"/>
    <p:sldId xmlns:r="http://schemas.openxmlformats.org/officeDocument/2006/relationships" id="275" r:id="Rfeca4da2755845ac"/>
    <p:sldId xmlns:r="http://schemas.openxmlformats.org/officeDocument/2006/relationships" id="276" r:id="R669986cae2784605"/>
    <p:sldId xmlns:r="http://schemas.openxmlformats.org/officeDocument/2006/relationships" id="277" r:id="R1f5e6d61327c4df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2df3de01ae84637" /><Relationship Type="http://schemas.openxmlformats.org/officeDocument/2006/relationships/slideMaster" Target="/ppt/slideMasters/slideMaster1.xml" Id="R5657e3a9c4ba4530" /><Relationship Type="http://schemas.openxmlformats.org/officeDocument/2006/relationships/notesMaster" Target="/ppt/notesMasters/notesMaster1.xml" Id="R99994da0755d4b7f" /><Relationship Type="http://schemas.openxmlformats.org/officeDocument/2006/relationships/presProps" Target="/ppt/presProps.xml" Id="R52f8a727812f468c" /><Relationship Type="http://schemas.openxmlformats.org/officeDocument/2006/relationships/tableStyles" Target="/ppt/tableStyles.xml" Id="Rfc9327bf66874f12" /><Relationship Type="http://schemas.openxmlformats.org/officeDocument/2006/relationships/slide" Target="/ppt/slides/slide1.xml" Id="R16be835ec032497f" /><Relationship Type="http://schemas.openxmlformats.org/officeDocument/2006/relationships/slide" Target="/ppt/slides/slide2.xml" Id="R910c3cf78f7342fe" /><Relationship Type="http://schemas.openxmlformats.org/officeDocument/2006/relationships/slide" Target="/ppt/slides/slide3.xml" Id="Rad3146f89e884c20" /><Relationship Type="http://schemas.openxmlformats.org/officeDocument/2006/relationships/slide" Target="/ppt/slides/slide4.xml" Id="R4f8c47d85b5f4ecb" /><Relationship Type="http://schemas.openxmlformats.org/officeDocument/2006/relationships/slide" Target="/ppt/slides/slide5.xml" Id="Rf0ff0670b79d4e3f" /><Relationship Type="http://schemas.openxmlformats.org/officeDocument/2006/relationships/slide" Target="/ppt/slides/slide6.xml" Id="Rdb36a905fc3c48fd" /><Relationship Type="http://schemas.openxmlformats.org/officeDocument/2006/relationships/slide" Target="/ppt/slides/slide7.xml" Id="R0b61c17f4f7540e1" /><Relationship Type="http://schemas.openxmlformats.org/officeDocument/2006/relationships/slide" Target="/ppt/slides/slide8.xml" Id="Rdbe3fa4eae4341bf" /><Relationship Type="http://schemas.openxmlformats.org/officeDocument/2006/relationships/slide" Target="/ppt/slides/slide9.xml" Id="R56d91388c12149c0" /><Relationship Type="http://schemas.openxmlformats.org/officeDocument/2006/relationships/slide" Target="/ppt/slides/slide10.xml" Id="Rf6dd0714e6b24303" /><Relationship Type="http://schemas.openxmlformats.org/officeDocument/2006/relationships/slide" Target="/ppt/slides/slide11.xml" Id="Ra73ecc0274b6421f" /><Relationship Type="http://schemas.openxmlformats.org/officeDocument/2006/relationships/slide" Target="/ppt/slides/slide12.xml" Id="Rc8b28cc589744f64" /><Relationship Type="http://schemas.openxmlformats.org/officeDocument/2006/relationships/slide" Target="/ppt/slides/slide13.xml" Id="R05bed4f091474d4e" /><Relationship Type="http://schemas.openxmlformats.org/officeDocument/2006/relationships/slide" Target="/ppt/slides/slide14.xml" Id="R3815397ff9ef41c4" /><Relationship Type="http://schemas.openxmlformats.org/officeDocument/2006/relationships/slide" Target="/ppt/slides/slide15.xml" Id="Rda15a14812744a2f" /><Relationship Type="http://schemas.openxmlformats.org/officeDocument/2006/relationships/slide" Target="/ppt/slides/slide16.xml" Id="R332fe01e5dd349bb" /><Relationship Type="http://schemas.openxmlformats.org/officeDocument/2006/relationships/slide" Target="/ppt/slides/slide17.xml" Id="R04e402488d7043b4" /><Relationship Type="http://schemas.openxmlformats.org/officeDocument/2006/relationships/slide" Target="/ppt/slides/slide18.xml" Id="Re8461271b658421d" /><Relationship Type="http://schemas.openxmlformats.org/officeDocument/2006/relationships/slide" Target="/ppt/slides/slide19.xml" Id="R591717352ea6495c" /><Relationship Type="http://schemas.openxmlformats.org/officeDocument/2006/relationships/slide" Target="/ppt/slides/slide20.xml" Id="Rfeca4da2755845ac" /><Relationship Type="http://schemas.openxmlformats.org/officeDocument/2006/relationships/slide" Target="/ppt/slides/slide21.xml" Id="R669986cae2784605" /><Relationship Type="http://schemas.openxmlformats.org/officeDocument/2006/relationships/slide" Target="/ppt/slides/slide22.xml" Id="R1f5e6d61327c4df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4bb01d697544e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58fe63c1faa4e30" /><Relationship Type="http://schemas.openxmlformats.org/officeDocument/2006/relationships/notesMaster" Target="/ppt/notesMasters/notesMaster1.xml" Id="Rb22083a476bb487e" /></Relationships>
</file>

<file path=ppt/notesSlides/_rels/notesSlide2.xml.rels>&#65279;<?xml version="1.0" encoding="utf-8"?><Relationships xmlns="http://schemas.openxmlformats.org/package/2006/relationships"><Relationship Type="http://schemas.openxmlformats.org/officeDocument/2006/relationships/slide" Target="/ppt/slides/slide2.xml" Id="R7266c057884e4cbc" /><Relationship Type="http://schemas.openxmlformats.org/officeDocument/2006/relationships/notesMaster" Target="/ppt/notesMasters/notesMaster1.xml" Id="Rbc00882ab51646d9" /></Relationships>
</file>

<file path=ppt/notesSlides/_rels/notesSlide3.xml.rels>&#65279;<?xml version="1.0" encoding="utf-8"?><Relationships xmlns="http://schemas.openxmlformats.org/package/2006/relationships"><Relationship Type="http://schemas.openxmlformats.org/officeDocument/2006/relationships/slide" Target="/ppt/slides/slide3.xml" Id="R4e00c8bd2123474c" /><Relationship Type="http://schemas.openxmlformats.org/officeDocument/2006/relationships/notesMaster" Target="/ppt/notesMasters/notesMaster1.xml" Id="Ra23298fdecd94921" /></Relationships>
</file>

<file path=ppt/notesSlides/_rels/notesSlide4.xml.rels>&#65279;<?xml version="1.0" encoding="utf-8"?><Relationships xmlns="http://schemas.openxmlformats.org/package/2006/relationships"><Relationship Type="http://schemas.openxmlformats.org/officeDocument/2006/relationships/slide" Target="/ppt/slides/slide4.xml" Id="Ra2c6b394be7a4a49" /><Relationship Type="http://schemas.openxmlformats.org/officeDocument/2006/relationships/notesMaster" Target="/ppt/notesMasters/notesMaster1.xml" Id="R23ea87e3066149f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b4458e9b7fe4455" /><Relationship Type="http://schemas.openxmlformats.org/officeDocument/2006/relationships/notesMaster" Target="/ppt/notesMasters/notesMaster1.xml" Id="R46717f1e0b53471c" /></Relationships>
</file>

<file path=ppt/notesSlides/_rels/notesSlide6.xml.rels>&#65279;<?xml version="1.0" encoding="utf-8"?><Relationships xmlns="http://schemas.openxmlformats.org/package/2006/relationships"><Relationship Type="http://schemas.openxmlformats.org/officeDocument/2006/relationships/slide" Target="/ppt/slides/slide6.xml" Id="R1d7235234db242a6" /><Relationship Type="http://schemas.openxmlformats.org/officeDocument/2006/relationships/notesMaster" Target="/ppt/notesMasters/notesMaster1.xml" Id="R8adbcc6a36344e76" /></Relationships>
</file>

<file path=ppt/notesSlides/_rels/notesSlide7.xml.rels>&#65279;<?xml version="1.0" encoding="utf-8"?><Relationships xmlns="http://schemas.openxmlformats.org/package/2006/relationships"><Relationship Type="http://schemas.openxmlformats.org/officeDocument/2006/relationships/slide" Target="/ppt/slides/slide7.xml" Id="Rca2c95c2d3e34b77" /><Relationship Type="http://schemas.openxmlformats.org/officeDocument/2006/relationships/notesMaster" Target="/ppt/notesMasters/notesMaster1.xml" Id="Rdf6e2a56b5644bde" /></Relationships>
</file>

<file path=ppt/notesSlides/_rels/notesSlide8.xml.rels>&#65279;<?xml version="1.0" encoding="utf-8"?><Relationships xmlns="http://schemas.openxmlformats.org/package/2006/relationships"><Relationship Type="http://schemas.openxmlformats.org/officeDocument/2006/relationships/slide" Target="/ppt/slides/slide8.xml" Id="R8ca4f88354ec4624" /><Relationship Type="http://schemas.openxmlformats.org/officeDocument/2006/relationships/notesMaster" Target="/ppt/notesMasters/notesMaster1.xml" Id="Rb543065210e14c8a" /></Relationships>
</file>

<file path=ppt/notesSlides/_rels/notesSlide9.xml.rels>&#65279;<?xml version="1.0" encoding="utf-8"?><Relationships xmlns="http://schemas.openxmlformats.org/package/2006/relationships"><Relationship Type="http://schemas.openxmlformats.org/officeDocument/2006/relationships/slide" Target="/ppt/slides/slide9.xml" Id="Rb0646cb0ece24eed" /><Relationship Type="http://schemas.openxmlformats.org/officeDocument/2006/relationships/notesMaster" Target="/ppt/notesMasters/notesMaster1.xml" Id="Rfef3d4d5e7b0413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59fdb4884ae4f8d" /><Relationship Type="http://schemas.openxmlformats.org/officeDocument/2006/relationships/notesMaster" Target="/ppt/notesMasters/notesMaster1.xml" Id="R7d010fc931e1493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7d3d6dc84f3474a" /><Relationship Type="http://schemas.openxmlformats.org/officeDocument/2006/relationships/notesMaster" Target="/ppt/notesMasters/notesMaster1.xml" Id="R3d8d75c9fec54aa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261b33d09c54584" /><Relationship Type="http://schemas.openxmlformats.org/officeDocument/2006/relationships/notesMaster" Target="/ppt/notesMasters/notesMaster1.xml" Id="R45b54143bf574ee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fb0607fd18f4e80" /><Relationship Type="http://schemas.openxmlformats.org/officeDocument/2006/relationships/notesMaster" Target="/ppt/notesMasters/notesMaster1.xml" Id="R3972df4d0afc4a5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6078acb868040d7" /><Relationship Type="http://schemas.openxmlformats.org/officeDocument/2006/relationships/notesMaster" Target="/ppt/notesMasters/notesMaster1.xml" Id="R129cb9a1718d4f7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c23bc70d8c74363" /><Relationship Type="http://schemas.openxmlformats.org/officeDocument/2006/relationships/notesMaster" Target="/ppt/notesMasters/notesMaster1.xml" Id="R5206f897d73a40e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52a32511c8645af" /><Relationship Type="http://schemas.openxmlformats.org/officeDocument/2006/relationships/notesMaster" Target="/ppt/notesMasters/notesMaster1.xml" Id="Rf23551d165e4479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886bbf0e2dd4630" /><Relationship Type="http://schemas.openxmlformats.org/officeDocument/2006/relationships/notesMaster" Target="/ppt/notesMasters/notesMaster1.xml" Id="Reb684d8de65f444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a4899520de94e04" /><Relationship Type="http://schemas.openxmlformats.org/officeDocument/2006/relationships/notesMaster" Target="/ppt/notesMasters/notesMaster1.xml" Id="R835da46113f44a1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42f5ef9b038483f" /><Relationship Type="http://schemas.openxmlformats.org/officeDocument/2006/relationships/notesMaster" Target="/ppt/notesMasters/notesMaster1.xml" Id="R96c1fc803b7547c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a7f1cae858a49f2" /><Relationship Type="http://schemas.openxmlformats.org/officeDocument/2006/relationships/notesMaster" Target="/ppt/notesMasters/notesMaster1.xml" Id="R3018475e282144b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168de5262484435" /><Relationship Type="http://schemas.openxmlformats.org/officeDocument/2006/relationships/notesMaster" Target="/ppt/notesMasters/notesMaster1.xml" Id="R8402e47b2fb8450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7f2d971a4994465" /><Relationship Type="http://schemas.openxmlformats.org/officeDocument/2006/relationships/notesMaster" Target="/ppt/notesMasters/notesMaster1.xml" Id="R75079cb849a442a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deck uses local exported numeric data and original source figures. It contains 15 main slides and 6 appendix slides. No server access is required. The 84-fly archived summaries and 81-fly pulse-derived analysis are different views of overlapping data, not independent replications. All newly plotted points are observed fly-level measurements.</a:t>
            </a:r>
          </a:p>
          <a:p xmlns:a="http://schemas.openxmlformats.org/drawingml/2006/main">
            <a:r>
              <a:t/>
            </a:r>
          </a:p>
          <a:p xmlns:a="http://schemas.openxmlformats.org/drawingml/2006/main">
            <a:r>
              <a:t>Sources:</a:t>
            </a:r>
          </a:p>
          <a:p xmlns:a="http://schemas.openxmlformats.org/drawingml/2006/main">
            <a:r>
              <a:t>S1: /Users/sophiarenauld/Downloads/Wilson Lab/Chrimson Data(Included) (3).csv</a:t>
            </a:r>
          </a:p>
          <a:p xmlns:a="http://schemas.openxmlformats.org/drawingml/2006/main">
            <a:r>
              <a:t>S2: /Users/sophiarenauld/Documents/GitHub/Wilson_Thesis/Behavior_analysis/smp544_pivot_results/presentation_metrics.csv</a:t>
            </a:r>
          </a:p>
          <a:p xmlns:a="http://schemas.openxmlformats.org/drawingml/2006/main">
            <a:r>
              <a:t>S3: /Users/sophiarenauld/Downloads/Wilson Lab/lab_meeting_plus_extra/labmeeting_9.pptx</a:t>
            </a:r>
          </a:p>
          <a:p xmlns:a="http://schemas.openxmlformats.org/drawingml/2006/main">
            <a:r>
              <a:t>S9: /Users/sophiarenauld/Downloads/Wilson Lab/Blinded_csChrim_behavior.pptx</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Protocol transcribed from labmeeting_9 slide 18: 1 s optogenetic stimulation every 14.5 s, 20 min trials, closed-loop bar. The intended n=15 in that source is a recruitment target; actual counts are reported on slide 3. Schematic copied without alteration to its content; transparent surrounding whitespace is cropped for layout. Earlier pilot protocols are separated in the appendix.</a:t>
            </a:r>
          </a:p>
          <a:p xmlns:a="http://schemas.openxmlformats.org/drawingml/2006/main">
            <a:r>
              <a:t/>
            </a:r>
          </a:p>
          <a:p xmlns:a="http://schemas.openxmlformats.org/drawingml/2006/main">
            <a:r>
              <a:t>Sources:</a:t>
            </a:r>
          </a:p>
          <a:p xmlns:a="http://schemas.openxmlformats.org/drawingml/2006/main">
            <a:r>
              <a:t>S3: /Users/sophiarenauld/Downloads/Wilson Lab/lab_meeting_plus_extra/labmeeting_9.pptx</a:t>
            </a:r>
          </a:p>
          <a:p xmlns:a="http://schemas.openxmlformats.org/drawingml/2006/main">
            <a:r>
              <a:t>S9: /Users/sophiarenauld/Downloads/Wilson Lab/Blinded_csChrim_behavior.pptx</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Genotype mapping parsed directly from cschrim_behaviorcrunch.R. 84 archived flies: line1-Chrimson18, line2-Chrimson17, line1-GFP16, line2-GFP16, empty-Chrimson17. Pulse analysis: 18,16,16,16,15 respectively. Source extraction lists omit IDs1 and6; ID39 appears in recording_manifest.csv but has no extracted pulses. Extractor documents skipping a legacy non-HDF5 control file, but the specific failure for ID39 cannot be independently established from local exports. No new exclusion is introduced.</a:t>
            </a:r>
          </a:p>
          <a:p xmlns:a="http://schemas.openxmlformats.org/drawingml/2006/main">
            <a:r>
              <a:t/>
            </a:r>
          </a:p>
          <a:p xmlns:a="http://schemas.openxmlformats.org/drawingml/2006/main">
            <a:r>
              <a:t>Sources:</a:t>
            </a:r>
          </a:p>
          <a:p xmlns:a="http://schemas.openxmlformats.org/drawingml/2006/main">
            <a:r>
              <a:t>S1: /Users/sophiarenauld/Downloads/Wilson Lab/Chrimson Data(Included) (3).csv</a:t>
            </a:r>
          </a:p>
          <a:p xmlns:a="http://schemas.openxmlformats.org/drawingml/2006/main">
            <a:r>
              <a:t>S2: /Users/sophiarenauld/Documents/GitHub/Wilson_Thesis/Behavior_analysis/smp544_pivot_results/presentation_metrics.csv</a:t>
            </a:r>
          </a:p>
          <a:p xmlns:a="http://schemas.openxmlformats.org/drawingml/2006/main">
            <a:r>
              <a:t>S5: /Users/sophiarenauld/Documents/GitHub/Wilson_Thesis/Behavior_analysis/Behavior_Crunch/cschrim_behaviorcrunch.R</a:t>
            </a:r>
          </a:p>
          <a:p xmlns:a="http://schemas.openxmlformats.org/drawingml/2006/main">
            <a:r>
              <a:t>S6: /Users/sophiarenauld/Documents/GitHub/Wilson_Thesis/Behavior_analysis/analyze_smp544_pivots.py</a:t>
            </a:r>
          </a:p>
          <a:p xmlns:a="http://schemas.openxmlformats.org/drawingml/2006/main">
            <a:r>
              <a:t>S11: /Users/sophiarenauld/Documents/GitHub/Wilson_Thesis/Behavior_analysis/smp544_pivot_results/recording_manifest.csv</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unaltered image32.png (left, VES041 × csChrimson) and image31.png (right, empty × csChrimson) from slide22 of labmeeting_9. Assignment checked against image relationships and label positions. Each source plot shows80 pulses. These examples are illustrative, not a random sample or the basis of inference. Their original axes read arbitrary units, so they are not used to validate the 2mm pivot threshold.</a:t>
            </a:r>
          </a:p>
          <a:p xmlns:a="http://schemas.openxmlformats.org/drawingml/2006/main">
            <a:r>
              <a:t/>
            </a:r>
          </a:p>
          <a:p xmlns:a="http://schemas.openxmlformats.org/drawingml/2006/main">
            <a:r>
              <a:t>Sources:</a:t>
            </a:r>
          </a:p>
          <a:p xmlns:a="http://schemas.openxmlformats.org/drawingml/2006/main">
            <a:r>
              <a:t>S3: /Users/sophiarenauld/Downloads/Wilson Lab/lab_meeting_plus_extra/labmeeting_9.pptx</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 of 80 pulses per fly. During = first 1 s of stimulation, baseline = preceding 1 s. Delta = during - baseline. Equal fly weight. No imputation/outlier exclusion. CIs = percentile fly bootstrap, not simultaneous. Two-sided random-label permutation tests, 100000 shuffles with plus-one correction. BH FDR across 12 exploratory genotype contrasts (3 metrics x 4 comparisons). Absolute net heading = absolute unwrapped end-to-start heading difference within each1s window. This is not cumulative turning. 18 line1 and16 line2 activation flies.</a:t>
            </a:r>
          </a:p>
          <a:p xmlns:a="http://schemas.openxmlformats.org/drawingml/2006/main">
            <a:r>
              <a:t/>
            </a:r>
          </a:p>
          <a:p xmlns:a="http://schemas.openxmlformats.org/drawingml/2006/main">
            <a:r>
              <a:t>Sources:</a:t>
            </a:r>
          </a:p>
          <a:p xmlns:a="http://schemas.openxmlformats.org/drawingml/2006/main">
            <a:r>
              <a:t>S2: /Users/sophiarenauld/Documents/GitHub/Wilson_Thesis/Behavior_analysis/smp544_pivot_results/presentation_metrics.csv</a:t>
            </a:r>
          </a:p>
          <a:p xmlns:a="http://schemas.openxmlformats.org/drawingml/2006/main">
            <a:r>
              <a:t>S5: /Users/sophiarenauld/Documents/GitHub/Wilson_Thesis/Behavior_analysis/Behavior_Crunch/cschrim_behaviorcrunch.R</a:t>
            </a:r>
          </a:p>
          <a:p xmlns:a="http://schemas.openxmlformats.org/drawingml/2006/main">
            <a:r>
              <a:t>S6: /Users/sophiarenauld/Documents/GitHub/Wilson_Thesis/Behavior_analysis/analyze_smp544_pivots.py</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Starting heading is defined as0deg separately for every pulse. Source signed_net_heading_deg_opto_1s equals unwrapped heading at the last sample in the first1s light window minus heading at the first sample at light onset. The local extractor uses indices start through start+round(rate)-1. At the saved sample rate666.6667Hz, endpoints are about0.999s apart. For each pulse, reflect a negative endpoint across the horizontal0deg axis by taking its absolute value; positive endpoints remain positive. Then average the80 absolute pulse shifts within each fly. After = mean_pulses(abs(theta_end-theta_onset)); this is not abs(mean_pulses(theta_end-theta_onset)), so opposite directions do not cancel across pulses. This is an onset-referenced net displacement magnitude, not cumulative turning or subtraction of the amount of turning in the preceding second. The zero is a coordinate reference, not an observed absence of baseline movement or an imputed observation. Each fly has one zero-reference point connected to its mean absolute endpoint shift. No new paired significance test is applied to these defined zero baselines. Genotype counts18,16,16,16,15 give81flies and162plotted reference/endpoint points. Fixed horizontal offsets follow Fly ID within genotype and are identical at both endpoints; vertical numeric values are unchanged after the explicitly documented absolute-value transformation. The signed version remains in the code package for reference. Exact paired data are in heading_pairs81.csv and heading_pairs_long81.csv, and descriptive summaries in heading_paired_summary81.csv.</a:t>
            </a:r>
          </a:p>
          <a:p xmlns:a="http://schemas.openxmlformats.org/drawingml/2006/main">
            <a:r>
              <a:t/>
            </a:r>
          </a:p>
          <a:p xmlns:a="http://schemas.openxmlformats.org/drawingml/2006/main">
            <a:r>
              <a:t>Sources:</a:t>
            </a:r>
          </a:p>
          <a:p xmlns:a="http://schemas.openxmlformats.org/drawingml/2006/main">
            <a:r>
              <a:t>S2: /Users/sophiarenauld/Documents/GitHub/Wilson_Thesis/Behavior_analysis/smp544_pivot_results/presentation_metrics.csv</a:t>
            </a:r>
          </a:p>
          <a:p xmlns:a="http://schemas.openxmlformats.org/drawingml/2006/main">
            <a:r>
              <a:t>S5: /Users/sophiarenauld/Documents/GitHub/Wilson_Thesis/Behavior_analysis/Behavior_Crunch/cschrim_behaviorcrunch.R</a:t>
            </a:r>
          </a:p>
          <a:p xmlns:a="http://schemas.openxmlformats.org/drawingml/2006/main">
            <a:r>
              <a:t>S6: /Users/sophiarenauld/Documents/GitHub/Wilson_Thesis/Behavior_analysis/analyze_smp544_pivots.py</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 of 80 pulses per fly. During = first 1 s of stimulation, baseline = preceding 1 s. Delta = during - baseline. Equal fly weight. No imputation/outlier exclusion. CIs = percentile fly bootstrap, not simultaneous. Two-sided random-label permutation tests, 100000 shuffles with plus-one correction. BH FDR across 12 exploratory genotype contrasts (3 metrics x 4 comparisons). Mean rotational speed is mean absolute smoothedangularVelocity in the archived extraction. Smoothing precedes absolute-value averaging; this differs from the raw angularVelocity_raw used by the legacy summary pipeline. No rescaling was applied.</a:t>
            </a:r>
          </a:p>
          <a:p xmlns:a="http://schemas.openxmlformats.org/drawingml/2006/main">
            <a:r>
              <a:t/>
            </a:r>
          </a:p>
          <a:p xmlns:a="http://schemas.openxmlformats.org/drawingml/2006/main">
            <a:r>
              <a:t>Sources:</a:t>
            </a:r>
          </a:p>
          <a:p xmlns:a="http://schemas.openxmlformats.org/drawingml/2006/main">
            <a:r>
              <a:t>S2: /Users/sophiarenauld/Documents/GitHub/Wilson_Thesis/Behavior_analysis/smp544_pivot_results/presentation_metrics.csv</a:t>
            </a:r>
          </a:p>
          <a:p xmlns:a="http://schemas.openxmlformats.org/drawingml/2006/main">
            <a:r>
              <a:t>S6: /Users/sophiarenauld/Documents/GitHub/Wilson_Thesis/Behavior_analysis/analyze_smp544_pivots.py</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 of 80 pulses per fly. During = first 1 s of stimulation, baseline = preceding 1 s. Delta = during - baseline. Equal fly weight. No imputation/outlier exclusion. CIs = percentile fly bootstrap, not simultaneous. Two-sided random-label permutation tests, 100000 shuffles with plus-one correction. BH FDR across 12 exploratory genotype contrasts (3 metrics x 4 comparisons). Every available pulse is included, regardless of baseline forward velocity. The near-zero within-group means and nonsignificant contrasts do not establish equivalence or absence of every possible speed effect. All four comparisons are with the matched GFP or empty-split control.</a:t>
            </a:r>
          </a:p>
          <a:p xmlns:a="http://schemas.openxmlformats.org/drawingml/2006/main">
            <a:r>
              <a:t/>
            </a:r>
          </a:p>
          <a:p xmlns:a="http://schemas.openxmlformats.org/drawingml/2006/main">
            <a:r>
              <a:t>Sources:</a:t>
            </a:r>
          </a:p>
          <a:p xmlns:a="http://schemas.openxmlformats.org/drawingml/2006/main">
            <a:r>
              <a:t>S2: /Users/sophiarenauld/Documents/GitHub/Wilson_Thesis/Behavior_analysis/smp544_pivot_results/presentation_metrics.csv</a:t>
            </a:r>
          </a:p>
          <a:p xmlns:a="http://schemas.openxmlformats.org/drawingml/2006/main">
            <a:r>
              <a:t>S5: /Users/sophiarenauld/Documents/GitHub/Wilson_Thesis/Behavior_analysis/Behavior_Crunch/cschrim_behaviorcrunch.R</a:t>
            </a:r>
          </a:p>
          <a:p xmlns:a="http://schemas.openxmlformats.org/drawingml/2006/main">
            <a:r>
              <a:t>S6: /Users/sophiarenauld/Documents/GitHub/Wilson_Thesis/Behavior_analysis/analyze_smp544_pivots.py</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 of 80 pulses per fly. During = first 1 s of stimulation, baseline = preceding 1 s. Delta = during - baseline. Equal fly weight. No imputation/outlier exclusion. CIs = percentile fly bootstrap, not simultaneous. Two-sided random-label permutation tests, 100000 shuffles with plus-one correction. BH FDR across 12 exploratory genotype contrasts (3 metrics x 4 comparisons). Forest panels show experimental mean delta minus control mean delta. Horizontal intervals are pointwise95% percentile bootstrap CIs and are not simultaneous/FDR-adjusted intervals. q-values are BH-adjusted across12 exploratory contrasts: heading, rotational speed and forward velocity, each tested for line1-vs-GFP, line1-vs-empty, line2-vs-GFP, line2-vs-empty. These analyses are retrospective, not preregistered. Exact estimates and tests are in derived/exploratory_tests81.csv.</a:t>
            </a:r>
          </a:p>
          <a:p xmlns:a="http://schemas.openxmlformats.org/drawingml/2006/main">
            <a:r>
              <a:t/>
            </a:r>
          </a:p>
          <a:p xmlns:a="http://schemas.openxmlformats.org/drawingml/2006/main">
            <a:r>
              <a:t>Sources:</a:t>
            </a:r>
          </a:p>
          <a:p xmlns:a="http://schemas.openxmlformats.org/drawingml/2006/main">
            <a:r>
              <a:t>S2: /Users/sophiarenauld/Documents/GitHub/Wilson_Thesis/Behavior_analysis/smp544_pivot_results/presentation_metrics.csv</a:t>
            </a:r>
          </a:p>
          <a:p xmlns:a="http://schemas.openxmlformats.org/drawingml/2006/main">
            <a:r>
              <a:t>S5: /Users/sophiarenauld/Documents/GitHub/Wilson_Thesis/Behavior_analysis/Behavior_Crunch/cschrim_behaviorcrunch.R</a:t>
            </a:r>
          </a:p>
          <a:p xmlns:a="http://schemas.openxmlformats.org/drawingml/2006/main">
            <a:r>
              <a:t>S6: /Users/sophiarenauld/Documents/GitHub/Wilson_Thesis/Behavior_analysis/analyze_smp544_pivots.py</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descriptive sensitivity analysis. Select pulses with preceding1s mean forward velocity &gt;=3mm/s, using the movement cutoff minVel=3 in master_behavior_analysis.m. Then average selected pulses within each fly, followed by equal fly weighting. Counts by genotype:620,513,348,306,353 pulses, retaining18,16,16,16,15 flies. A baseline-conditioned change can be affected by selection/regression-to-mean, so control groups are essential and this slide is not a new causal test. This sensitivity resembles the legacy slowdown pattern but does not prove exactly which historical preprocessing produced the84-fly table.</a:t>
            </a:r>
          </a:p>
          <a:p xmlns:a="http://schemas.openxmlformats.org/drawingml/2006/main">
            <a:r>
              <a:t/>
            </a:r>
          </a:p>
          <a:p xmlns:a="http://schemas.openxmlformats.org/drawingml/2006/main">
            <a:r>
              <a:t>Sources:</a:t>
            </a:r>
          </a:p>
          <a:p xmlns:a="http://schemas.openxmlformats.org/drawingml/2006/main">
            <a:r>
              <a:t>S2: /Users/sophiarenauld/Documents/GitHub/Wilson_Thesis/Behavior_analysis/smp544_pivot_results/presentation_metrics.csv</a:t>
            </a:r>
          </a:p>
          <a:p xmlns:a="http://schemas.openxmlformats.org/drawingml/2006/main">
            <a:r>
              <a:t>S8: /Users/sophiarenauld/Documents/GitHub/Wilson_Thesis/Behavior_analysis/plotExpt_sliced_opto_velocity.m</a:t>
            </a:r>
          </a:p>
          <a:p xmlns:a="http://schemas.openxmlformats.org/drawingml/2006/main">
            <a:r>
              <a:t>S10: /Users/sophiarenauld/Documents/GitHub/Wilson_Thesis/Behavior_analysis/master_behavior_analysis.m</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Archived numeric table plotted without correcting, imputation or replacing any values. Delta=Opto On minus Pre Opto. The archived summary lacks explicit per-pulse inclusion/filtering metadata. Current source code has a moving-only summary path and uses raw velocity fields, while the81-fly event extractor includes all pulses and smoothedangularVelocity. These differences in estimand and processing mean the two tables are not pooled. Forward changes:line1 -1.748mm/s,line2 -1.588mm/s; rotational changes:+54.086,+38.607deg/s respectively. No significance stars are inherited from old slides.</a:t>
            </a:r>
          </a:p>
          <a:p xmlns:a="http://schemas.openxmlformats.org/drawingml/2006/main">
            <a:r>
              <a:t/>
            </a:r>
          </a:p>
          <a:p xmlns:a="http://schemas.openxmlformats.org/drawingml/2006/main">
            <a:r>
              <a:t>Sources:</a:t>
            </a:r>
          </a:p>
          <a:p xmlns:a="http://schemas.openxmlformats.org/drawingml/2006/main">
            <a:r>
              <a:t>S1: /Users/sophiarenauld/Downloads/Wilson Lab/Chrimson Data(Included) (3).csv</a:t>
            </a:r>
          </a:p>
          <a:p xmlns:a="http://schemas.openxmlformats.org/drawingml/2006/main">
            <a:r>
              <a:t>S5: /Users/sophiarenauld/Documents/GitHub/Wilson_Thesis/Behavior_analysis/Behavior_Crunch/cschrim_behaviorcrunch.R</a:t>
            </a:r>
          </a:p>
          <a:p xmlns:a="http://schemas.openxmlformats.org/drawingml/2006/main">
            <a:r>
              <a:t>S8: /Users/sophiarenauld/Documents/GitHub/Wilson_Thesis/Behavior_analysis/plotExpt_sliced_opto_velocity.m</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Within-fly mean opto-minus-pre forward velocity on x; mean opto-minus-pre absolute net heading on y. Each fly appears once. Genotype colors match all previous plots. Both left and right of zero forward-speed change occur among activation flies. No trajectory or temporal trace is inferred from these window summaries.</a:t>
            </a:r>
          </a:p>
          <a:p xmlns:a="http://schemas.openxmlformats.org/drawingml/2006/main">
            <a:r>
              <a:t/>
            </a:r>
          </a:p>
          <a:p xmlns:a="http://schemas.openxmlformats.org/drawingml/2006/main">
            <a:r>
              <a:t>Sources:</a:t>
            </a:r>
          </a:p>
          <a:p xmlns:a="http://schemas.openxmlformats.org/drawingml/2006/main">
            <a:r>
              <a:t>S2: /Users/sophiarenauld/Documents/GitHub/Wilson_Thesis/Behavior_analysis/smp544_pivot_results/presentation_metrics.csv</a:t>
            </a:r>
          </a:p>
          <a:p xmlns:a="http://schemas.openxmlformats.org/drawingml/2006/main">
            <a:r>
              <a:t>S6: /Users/sophiarenauld/Documents/GitHub/Wilson_Thesis/Behavior_analysis/analyze_smp544_pivots.py</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Pivot event = absolute net heading&gt;=45deg AND net displacement&lt;=2mm AND directionality&gt;=0.7. Directionality=absolute net heading divided by total unwrapped heading change. Identical rule applied to preceding1s and first1s of optogenetic stimulation. Averaged per fly before pooling. Activation1.360294% pre to4.816176% during (delta3.455882pp), controls2.074468% to2.553191% (delta0.478723pp), difference2.977159pp. These values exactly reproduce the saved fly_level_summary. Saved permutation test p=0.0001899981, BH q=0.0001899981, adjusted over the6 metrics in its original saved analysis. Do not confuse that family with the12 new exploratory contrasts elsewhere in this deck. Pooled controls combine different genotypes, so per-genotype plots are also supplied.</a:t>
            </a:r>
          </a:p>
          <a:p xmlns:a="http://schemas.openxmlformats.org/drawingml/2006/main">
            <a:r>
              <a:t/>
            </a:r>
          </a:p>
          <a:p xmlns:a="http://schemas.openxmlformats.org/drawingml/2006/main">
            <a:r>
              <a:t>Sources:</a:t>
            </a:r>
          </a:p>
          <a:p xmlns:a="http://schemas.openxmlformats.org/drawingml/2006/main">
            <a:r>
              <a:t>S2: /Users/sophiarenauld/Documents/GitHub/Wilson_Thesis/Behavior_analysis/smp544_pivot_results/presentation_metrics.csv</a:t>
            </a:r>
          </a:p>
          <a:p xmlns:a="http://schemas.openxmlformats.org/drawingml/2006/main">
            <a:r>
              <a:t>S6: /Users/sophiarenauld/Documents/GitHub/Wilson_Thesis/Behavior_analysis/analyze_smp544_pivots.py</a:t>
            </a:r>
          </a:p>
          <a:p xmlns:a="http://schemas.openxmlformats.org/drawingml/2006/main">
            <a:r>
              <a:t>S7: /Users/sophiarenauld/Documents/GitHub/Wilson_Thesis/Behavior_analysis/smp544_pivot_results/ves041_activation_tests.csv</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Recomputed directly from local pulse data at turn thresholds30,45,60deg and displacement thresholds1,2,3mm; directionality&gt;=0.7 fixed. Each fly receives equal weight. No p-values are computed for this exploratory sensitivity grid. Small positive values at strict1mm thresholds should not be presented as uniformly large effects. Operational pivot prevalence is definition-dependent and is much lower than the prevalence of any increase in turning.</a:t>
            </a:r>
          </a:p>
          <a:p xmlns:a="http://schemas.openxmlformats.org/drawingml/2006/main">
            <a:r>
              <a:t/>
            </a:r>
          </a:p>
          <a:p xmlns:a="http://schemas.openxmlformats.org/drawingml/2006/main">
            <a:r>
              <a:t>Sources:</a:t>
            </a:r>
          </a:p>
          <a:p xmlns:a="http://schemas.openxmlformats.org/drawingml/2006/main">
            <a:r>
              <a:t>S2: /Users/sophiarenauld/Documents/GitHub/Wilson_Thesis/Behavior_analysis/smp544_pivot_results/presentation_metrics.csv</a:t>
            </a:r>
          </a:p>
          <a:p xmlns:a="http://schemas.openxmlformats.org/drawingml/2006/main">
            <a:r>
              <a:t>S6: /Users/sophiarenauld/Documents/GitHub/Wilson_Thesis/Behavior_analysis/analyze_smp544_pivots.py</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 pulses per fly, binned1-10 through71-80. Each plotted point is the mean of fly-specific within-bin mean deltas, with a percentile bootstrap over flies for the pointwise interval. Bands are not simultaneous confidence bands. This descriptive plot reports pulse order, not an inferred continuous time course, response onset latency, or formal habituation result.</a:t>
            </a:r>
          </a:p>
          <a:p xmlns:a="http://schemas.openxmlformats.org/drawingml/2006/main">
            <a:r>
              <a:t/>
            </a:r>
          </a:p>
          <a:p xmlns:a="http://schemas.openxmlformats.org/drawingml/2006/main">
            <a:r>
              <a:t>Sources:</a:t>
            </a:r>
          </a:p>
          <a:p xmlns:a="http://schemas.openxmlformats.org/drawingml/2006/main">
            <a:r>
              <a:t>S2: /Users/sophiarenauld/Documents/GitHub/Wilson_Thesis/Behavior_analysis/smp544_pivot_results/presentation_metrics.csv</a:t>
            </a:r>
          </a:p>
          <a:p xmlns:a="http://schemas.openxmlformats.org/drawingml/2006/main">
            <a:r>
              <a:t>S6: /Users/sophiarenauld/Documents/GitHub/Wilson_Thesis/Behavior_analysis/analyze_smp544_pivots.py</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causal wording is limited to behavioral effects of activation in the reported genotypes under this protocol and control design. This experiment alone does not prove suppression of central-complex output, recruitment of a specific downstream pathway, or a change in internal goal. The source decks discuss circuit hypotheses, but those are not treated as newly demonstrated by the activation data. State-dependent forward-speed estimates are shown rather than a universal slowing claim.</a:t>
            </a:r>
          </a:p>
          <a:p xmlns:a="http://schemas.openxmlformats.org/drawingml/2006/main">
            <a:r>
              <a:t/>
            </a:r>
          </a:p>
          <a:p xmlns:a="http://schemas.openxmlformats.org/drawingml/2006/main">
            <a:r>
              <a:t>Sources:</a:t>
            </a:r>
          </a:p>
          <a:p xmlns:a="http://schemas.openxmlformats.org/drawingml/2006/main">
            <a:r>
              <a:t>S1: /Users/sophiarenauld/Downloads/Wilson Lab/Chrimson Data(Included) (3).csv</a:t>
            </a:r>
          </a:p>
          <a:p xmlns:a="http://schemas.openxmlformats.org/drawingml/2006/main">
            <a:r>
              <a:t>S2: /Users/sophiarenauld/Documents/GitHub/Wilson_Thesis/Behavior_analysis/smp544_pivot_results/presentation_metrics.csv</a:t>
            </a:r>
          </a:p>
          <a:p xmlns:a="http://schemas.openxmlformats.org/drawingml/2006/main">
            <a:r>
              <a:t>S3: /Users/sophiarenauld/Downloads/Wilson Lab/lab_meeting_plus_extra/labmeeting_9.pptx</a:t>
            </a:r>
          </a:p>
          <a:p xmlns:a="http://schemas.openxmlformats.org/drawingml/2006/main">
            <a:r>
              <a:t>S6: /Users/sophiarenauld/Documents/GitHub/Wilson_Thesis/Behavior_analysis/analyze_smp544_pivots.py</a:t>
            </a:r>
          </a:p>
          <a:p xmlns:a="http://schemas.openxmlformats.org/drawingml/2006/main">
            <a:r>
              <a:t>S7: /Users/sophiarenauld/Documents/GitHub/Wilson_Thesis/Behavior_analysis/smp544_pivot_results/ves041_activation_tests.csv</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Plots the column Net Heading Displacement (deg) exactly as stored. This column contains one value per fly and has no matched baseline heading column. Therefore no baseline subtraction is performed. It must not be numerically equated to the event-derived heading delta in the main results. Statistical annotations from older PowerPoint plots are not copied.</a:t>
            </a:r>
          </a:p>
          <a:p xmlns:a="http://schemas.openxmlformats.org/drawingml/2006/main">
            <a:r>
              <a:t/>
            </a:r>
          </a:p>
          <a:p xmlns:a="http://schemas.openxmlformats.org/drawingml/2006/main">
            <a:r>
              <a:t>Sources:</a:t>
            </a:r>
          </a:p>
          <a:p xmlns:a="http://schemas.openxmlformats.org/drawingml/2006/main">
            <a:r>
              <a:t>S1: /Users/sophiarenauld/Downloads/Wilson Lab/Chrimson Data(Included) (3).csv</a:t>
            </a:r>
          </a:p>
          <a:p xmlns:a="http://schemas.openxmlformats.org/drawingml/2006/main">
            <a:r>
              <a:t>S5: /Users/sophiarenauld/Documents/GitHub/Wilson_Thesis/Behavior_analysis/Behavior_Crunch/cschrim_behaviorcrunch.R</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Strict pivot rule45deg/2mm/directionality0.7. Each fly has80 pulses; rates are in increments of1.25percentage points. Values include zeros. Individual fly lines are connected pre/during measures, not independent samples. Source counts18,16,16,16,15. These plots show why pooling controls and averaging experimental lines does not describe every individual fly.</a:t>
            </a:r>
          </a:p>
          <a:p xmlns:a="http://schemas.openxmlformats.org/drawingml/2006/main">
            <a:r>
              <a:t/>
            </a:r>
          </a:p>
          <a:p xmlns:a="http://schemas.openxmlformats.org/drawingml/2006/main">
            <a:r>
              <a:t>Sources:</a:t>
            </a:r>
          </a:p>
          <a:p xmlns:a="http://schemas.openxmlformats.org/drawingml/2006/main">
            <a:r>
              <a:t>S2: /Users/sophiarenauld/Documents/GitHub/Wilson_Thesis/Behavior_analysis/smp544_pivot_results/presentation_metrics.csv</a:t>
            </a:r>
          </a:p>
          <a:p xmlns:a="http://schemas.openxmlformats.org/drawingml/2006/main">
            <a:r>
              <a:t>S6: /Users/sophiarenauld/Documents/GitHub/Wilson_Thesis/Behavior_analysis/analyze_smp544_pivots.py</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Pilot labmeeting8_20260306 slide18 lists0.5(or1)s stimulation every14.5s for6min and ISOD1 controls. Slide21 reports a startle reflex across genotypes. The later protocol in labmeeting_9 slide18 lists1s every14.5s for20min, GFP controls for both lines and empty-split × csChrimson. Do not infer a shared baseline, identical controls, or independent replication from repeated source figures.</a:t>
            </a:r>
          </a:p>
          <a:p xmlns:a="http://schemas.openxmlformats.org/drawingml/2006/main">
            <a:r>
              <a:t/>
            </a:r>
          </a:p>
          <a:p xmlns:a="http://schemas.openxmlformats.org/drawingml/2006/main">
            <a:r>
              <a:t>Sources:</a:t>
            </a:r>
          </a:p>
          <a:p xmlns:a="http://schemas.openxmlformats.org/drawingml/2006/main">
            <a:r>
              <a:t>S3: /Users/sophiarenauld/Downloads/Wilson Lab/lab_meeting_plus_extra/labmeeting_9.pptx</a:t>
            </a:r>
          </a:p>
          <a:p xmlns:a="http://schemas.openxmlformats.org/drawingml/2006/main">
            <a:r>
              <a:t>S4: /Users/sophiarenauld/Downloads/Wilson Lab/lab_meeting_plus_extra/labmeeting8/labmeeting8_20260306.pptx</a:t>
            </a:r>
          </a:p>
          <a:p xmlns:a="http://schemas.openxmlformats.org/drawingml/2006/main">
            <a:r>
              <a:t>S9: /Users/sophiarenauld/Downloads/Wilson Lab/Blinded_csChrim_behavior.pptx</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acceleration values are plotted without multiplying or dividing by an assumed sample rate. Current analysis code contains a correction from mean(diff(velocity)) to mean(diff(velocity))*rate. The84-fly archive does not document which revision or scaling generated its acceleration columns. Accordingly, the y-axes state original source units, no physical acceleration unit is claimed, and no inferential tests or biological claim are based on these values.</a:t>
            </a:r>
          </a:p>
          <a:p xmlns:a="http://schemas.openxmlformats.org/drawingml/2006/main">
            <a:r>
              <a:t/>
            </a:r>
          </a:p>
          <a:p xmlns:a="http://schemas.openxmlformats.org/drawingml/2006/main">
            <a:r>
              <a:t>Sources:</a:t>
            </a:r>
          </a:p>
          <a:p xmlns:a="http://schemas.openxmlformats.org/drawingml/2006/main">
            <a:r>
              <a:t>S1: /Users/sophiarenauld/Downloads/Wilson Lab/Chrimson Data(Included) (3).csv</a:t>
            </a:r>
          </a:p>
          <a:p xmlns:a="http://schemas.openxmlformats.org/drawingml/2006/main">
            <a:r>
              <a:t>S8: /Users/sophiarenauld/Documents/GitHub/Wilson_Thesis/Behavior_analysis/plotExpt_sliced_opto_velocity.m</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 of 80 pulses per fly. During = first 1 s of stimulation, baseline = preceding 1 s. Delta = during - baseline. Equal fly weight. No imputation/outlier exclusion. CIs = percentile fly bootstrap, not simultaneous. Two-sided random-label permutation tests, 100000 shuffles with plus-one correction. BH FDR across 12 exploratory genotype contrasts (3 metrics x 4 comparisons). Seed20261013. Original inputs preserved with SHA256 checksums. Assertions verify84unique summaryflies,81pulseflies,80pulses/fly,6480pulses,genotype mapping and reproduction of archived fly-level pivot/heading summaries. R plots show actual observations; x-jitter is used only for legibility and never changes y-values. Summary data were not pooled with the differently processed pulse table. Scientific figures have reproducible vector SVG exports; the pivot overview chart and tables are native editable PowerPoint objects.</a:t>
            </a:r>
          </a:p>
          <a:p xmlns:a="http://schemas.openxmlformats.org/drawingml/2006/main">
            <a:r>
              <a:t/>
            </a:r>
          </a:p>
          <a:p xmlns:a="http://schemas.openxmlformats.org/drawingml/2006/main">
            <a:r>
              <a:t>Sources:</a:t>
            </a:r>
          </a:p>
          <a:p xmlns:a="http://schemas.openxmlformats.org/drawingml/2006/main">
            <a:r>
              <a:t>S1: /Users/sophiarenauld/Downloads/Wilson Lab/Chrimson Data(Included) (3).csv</a:t>
            </a:r>
          </a:p>
          <a:p xmlns:a="http://schemas.openxmlformats.org/drawingml/2006/main">
            <a:r>
              <a:t>S2: /Users/sophiarenauld/Documents/GitHub/Wilson_Thesis/Behavior_analysis/smp544_pivot_results/presentation_metrics.csv</a:t>
            </a:r>
          </a:p>
          <a:p xmlns:a="http://schemas.openxmlformats.org/drawingml/2006/main">
            <a:r>
              <a:t>S5: /Users/sophiarenauld/Documents/GitHub/Wilson_Thesis/Behavior_analysis/Behavior_Crunch/cschrim_behaviorcrunch.R</a:t>
            </a:r>
          </a:p>
          <a:p xmlns:a="http://schemas.openxmlformats.org/drawingml/2006/main">
            <a:r>
              <a:t>S6: /Users/sophiarenauld/Documents/GitHub/Wilson_Thesis/Behavior_analysis/analyze_smp544_pivots.py</a:t>
            </a:r>
          </a:p>
          <a:p xmlns:a="http://schemas.openxmlformats.org/drawingml/2006/main">
            <a:r>
              <a:t>S7: /Users/sophiarenauld/Documents/GitHub/Wilson_Thesis/Behavior_analysis/smp544_pivot_results/ves041_activation_tests.csv</a:t>
            </a:r>
          </a:p>
          <a:p xmlns:a="http://schemas.openxmlformats.org/drawingml/2006/main">
            <a:r>
              <a:t>S8: /Users/sophiarenauld/Documents/GitHub/Wilson_Thesis/Behavior_analysis/plotExpt_sliced_opto_velocity.m</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 andS2 are overlapping datasets, not independent replications. S7 supplies the previously saved pooled-pivot test; the newly computed12-contrast family is documented separately. Exact originals in Downloads and Wilson_Thesis are unchanged. The accompanying source_data snapshots preserve the numeric inputs and relevant scripts. The original path images are unchanged PNG media extracted from S3 slide22. Older duplicated decks and the inhibition/imaging datasets are not counted as additional activation experiments.</a:t>
            </a:r>
          </a:p>
          <a:p xmlns:a="http://schemas.openxmlformats.org/drawingml/2006/main">
            <a:r>
              <a:t/>
            </a:r>
          </a:p>
          <a:p xmlns:a="http://schemas.openxmlformats.org/drawingml/2006/main">
            <a:r>
              <a:t>Sources:</a:t>
            </a:r>
          </a:p>
          <a:p xmlns:a="http://schemas.openxmlformats.org/drawingml/2006/main">
            <a:r>
              <a:t>S1: /Users/sophiarenauld/Downloads/Wilson Lab/Chrimson Data(Included) (3).csv</a:t>
            </a:r>
          </a:p>
          <a:p xmlns:a="http://schemas.openxmlformats.org/drawingml/2006/main">
            <a:r>
              <a:t>S2: /Users/sophiarenauld/Documents/GitHub/Wilson_Thesis/Behavior_analysis/smp544_pivot_results/presentation_metrics.csv</a:t>
            </a:r>
          </a:p>
          <a:p xmlns:a="http://schemas.openxmlformats.org/drawingml/2006/main">
            <a:r>
              <a:t>S3: /Users/sophiarenauld/Downloads/Wilson Lab/lab_meeting_plus_extra/labmeeting_9.pptx</a:t>
            </a:r>
          </a:p>
          <a:p xmlns:a="http://schemas.openxmlformats.org/drawingml/2006/main">
            <a:r>
              <a:t>S4: /Users/sophiarenauld/Downloads/Wilson Lab/lab_meeting_plus_extra/labmeeting8/labmeeting8_20260306.pptx</a:t>
            </a:r>
          </a:p>
          <a:p xmlns:a="http://schemas.openxmlformats.org/drawingml/2006/main">
            <a:r>
              <a:t>S5: /Users/sophiarenauld/Documents/GitHub/Wilson_Thesis/Behavior_analysis/Behavior_Crunch/cschrim_behaviorcrunch.R</a:t>
            </a:r>
          </a:p>
          <a:p xmlns:a="http://schemas.openxmlformats.org/drawingml/2006/main">
            <a:r>
              <a:t>S6: /Users/sophiarenauld/Documents/GitHub/Wilson_Thesis/Behavior_analysis/analyze_smp544_pivots.py</a:t>
            </a:r>
          </a:p>
          <a:p xmlns:a="http://schemas.openxmlformats.org/drawingml/2006/main">
            <a:r>
              <a:t>S7: /Users/sophiarenauld/Documents/GitHub/Wilson_Thesis/Behavior_analysis/smp544_pivot_results/ves041_activation_tests.csv</a:t>
            </a:r>
          </a:p>
          <a:p xmlns:a="http://schemas.openxmlformats.org/drawingml/2006/main">
            <a:r>
              <a:t>S8: /Users/sophiarenauld/Documents/GitHub/Wilson_Thesis/Behavior_analysis/plotExpt_sliced_opto_velocity.m</a:t>
            </a:r>
          </a:p>
          <a:p xmlns:a="http://schemas.openxmlformats.org/drawingml/2006/main">
            <a:r>
              <a:t>S9: /Users/sophiarenauld/Downloads/Wilson Lab/Blinded_csChrim_behavior.pptx</a:t>
            </a:r>
          </a:p>
          <a:p xmlns:a="http://schemas.openxmlformats.org/drawingml/2006/main">
            <a:r>
              <a:t>S10: /Users/sophiarenauld/Documents/GitHub/Wilson_Thesis/Behavior_analysis/master_behavior_analysis.m</a:t>
            </a:r>
          </a:p>
          <a:p xmlns:a="http://schemas.openxmlformats.org/drawingml/2006/main">
            <a:r>
              <a:t>S11: /Users/sophiarenauld/Documents/GitHub/Wilson_Thesis/Behavior_analysis/smp544_pivot_results/recording_manifest.csv</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707809e7b8444a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4b7a985a4da476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520b86f7c834ba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37df7d887e244f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c1c849b9f16434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1bb7eeb044d468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086C981-797F-426D-8715-EE5C894A60C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ABEC9A4-A191-4A71-B21A-9AE0B9EC0E4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CD1C14F-D655-402B-8D45-43EDE1E1FD2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F3CB08C-0DF8-47E1-886A-D011C9BC088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3031725-5BB1-4214-89B0-21FAF836D74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6C7ACDB-0C82-45AE-B8BF-1C1E7D05B89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DE1DC7E-A90A-417D-8C8B-B1F3208E431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691978E-BF16-4C82-8B2F-C4111F837AA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B4EAA04-094E-40BD-852B-F1313673323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F3F6730-B466-4256-8B43-B8B8C93990E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0e36876b81a4cac" /><Relationship Type="http://schemas.openxmlformats.org/officeDocument/2006/relationships/slideLayout" Target="/ppt/slideLayouts/slideLayout1.xml" Id="Rd5346fdb1e3c4291" /><Relationship Type="http://schemas.openxmlformats.org/officeDocument/2006/relationships/slideLayout" Target="/ppt/slideLayouts/slideLayout2.xml" Id="R51e0a625dd4a4da3" /><Relationship Type="http://schemas.openxmlformats.org/officeDocument/2006/relationships/slideLayout" Target="/ppt/slideLayouts/slideLayout3.xml" Id="Rd65baa99b34d410f" /><Relationship Type="http://schemas.openxmlformats.org/officeDocument/2006/relationships/slideLayout" Target="/ppt/slideLayouts/slideLayout4.xml" Id="Rec28fce1f0624655" /><Relationship Type="http://schemas.openxmlformats.org/officeDocument/2006/relationships/slideLayout" Target="/ppt/slideLayouts/slideLayout5.xml" Id="Ra1360b7269c14400" /><Relationship Type="http://schemas.openxmlformats.org/officeDocument/2006/relationships/slideLayout" Target="/ppt/slideLayouts/slideLayout6.xml" Id="R3982201e6dd0465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5346fdb1e3c4291"/>
    <p:sldLayoutId xmlns:r="http://schemas.openxmlformats.org/officeDocument/2006/relationships" id="2147483650" r:id="R51e0a625dd4a4da3"/>
    <p:sldLayoutId xmlns:r="http://schemas.openxmlformats.org/officeDocument/2006/relationships" id="2147483651" r:id="Rd65baa99b34d410f"/>
    <p:sldLayoutId xmlns:r="http://schemas.openxmlformats.org/officeDocument/2006/relationships" id="2147483652" r:id="Rec28fce1f0624655"/>
    <p:sldLayoutId xmlns:r="http://schemas.openxmlformats.org/officeDocument/2006/relationships" id="2147483653" r:id="Ra1360b7269c14400"/>
    <p:sldLayoutId xmlns:r="http://schemas.openxmlformats.org/officeDocument/2006/relationships" id="2147483654" r:id="R3982201e6dd0465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7cada6c49624dc2" /><Relationship Type="http://schemas.openxmlformats.org/officeDocument/2006/relationships/notesSlide" Target="/ppt/notesSlides/notesSlide1.xml" Id="R9f42df683ec040a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04df44091314454" /><Relationship Type="http://schemas.openxmlformats.org/officeDocument/2006/relationships/image" Target="/ppt/media/image.png" Id="Rac055a4d98574bda" /><Relationship Type="http://schemas.openxmlformats.org/officeDocument/2006/relationships/notesSlide" Target="/ppt/notesSlides/notesSlide2.xml" Id="Ra808bd02c7ed42a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ece3e4d6d784ec4" /><Relationship Type="http://schemas.openxmlformats.org/officeDocument/2006/relationships/notesSlide" Target="/ppt/notesSlides/notesSlide3.xml" Id="R8ecab7e648f44a6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5d4a58dd5224cfe" /><Relationship Type="http://schemas.openxmlformats.org/officeDocument/2006/relationships/image" Target="/ppt/media/image2.png" Id="Rf2667209eb1e404c" /><Relationship Type="http://schemas.openxmlformats.org/officeDocument/2006/relationships/image" Target="/ppt/media/image3.png" Id="Rb01074756cda45a4" /><Relationship Type="http://schemas.openxmlformats.org/officeDocument/2006/relationships/notesSlide" Target="/ppt/notesSlides/notesSlide4.xml" Id="Rd89ffe00bbfc403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a6bd0cc9d7e4ef4" /><Relationship Type="http://schemas.openxmlformats.org/officeDocument/2006/relationships/image" Target="/ppt/media/image4.png" Id="Rb08a203a6ef64185" /><Relationship Type="http://schemas.openxmlformats.org/officeDocument/2006/relationships/notesSlide" Target="/ppt/notesSlides/notesSlide5.xml" Id="R2135b1daabfb4a1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91afde9aa024a4c" /><Relationship Type="http://schemas.openxmlformats.org/officeDocument/2006/relationships/image" Target="/ppt/media/image5.png" Id="R174a614c62af4389" /><Relationship Type="http://schemas.openxmlformats.org/officeDocument/2006/relationships/notesSlide" Target="/ppt/notesSlides/notesSlide6.xml" Id="R6ba2530819a4407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3f6b85bf88f4f34" /><Relationship Type="http://schemas.openxmlformats.org/officeDocument/2006/relationships/image" Target="/ppt/media/image6.png" Id="R5b68ab910b874242" /><Relationship Type="http://schemas.openxmlformats.org/officeDocument/2006/relationships/notesSlide" Target="/ppt/notesSlides/notesSlide7.xml" Id="Rce1faa6478a4401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282ec2ed96d473a" /><Relationship Type="http://schemas.openxmlformats.org/officeDocument/2006/relationships/image" Target="/ppt/media/image7.png" Id="Rd2ebc03dcb2f4c5c" /><Relationship Type="http://schemas.openxmlformats.org/officeDocument/2006/relationships/notesSlide" Target="/ppt/notesSlides/notesSlide8.xml" Id="R5a929b8387854c1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42e6d59124e4451" /><Relationship Type="http://schemas.openxmlformats.org/officeDocument/2006/relationships/image" Target="/ppt/media/image8.png" Id="Red2992dc572f447b" /><Relationship Type="http://schemas.openxmlformats.org/officeDocument/2006/relationships/notesSlide" Target="/ppt/notesSlides/notesSlide9.xml" Id="Rf5fca3cbc1b846f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678e2d5bd584628" /><Relationship Type="http://schemas.openxmlformats.org/officeDocument/2006/relationships/image" Target="/ppt/media/image9.png" Id="R338593fbfa4b488f" /><Relationship Type="http://schemas.openxmlformats.org/officeDocument/2006/relationships/notesSlide" Target="/ppt/notesSlides/notesSlide10.xml" Id="R0d96bb211128450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9966d72c7d1413c" /><Relationship Type="http://schemas.openxmlformats.org/officeDocument/2006/relationships/image" Target="/ppt/media/image10.png" Id="Rb8183c0a26114516" /><Relationship Type="http://schemas.openxmlformats.org/officeDocument/2006/relationships/notesSlide" Target="/ppt/notesSlides/notesSlide11.xml" Id="R6216c4a74785406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a372c909d5a4b7a" /><Relationship Type="http://schemas.openxmlformats.org/officeDocument/2006/relationships/image" Target="/ppt/media/image11.png" Id="R7c556f6efbbc4708" /><Relationship Type="http://schemas.openxmlformats.org/officeDocument/2006/relationships/notesSlide" Target="/ppt/notesSlides/notesSlide12.xml" Id="Rc3955b73751d4b9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08723d2417e428f" /><Relationship Type="http://schemas.openxmlformats.org/officeDocument/2006/relationships/chart" Target="/ppt/slides/charts/chart1.xml" Id="R5d3951e0f3fe46be" /><Relationship Type="http://schemas.openxmlformats.org/officeDocument/2006/relationships/notesSlide" Target="/ppt/notesSlides/notesSlide13.xml" Id="R5a99ae4d1c7a4a2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2684b48d45d4cab" /><Relationship Type="http://schemas.openxmlformats.org/officeDocument/2006/relationships/image" Target="/ppt/media/image12.png" Id="R728ffae88f9a446a" /><Relationship Type="http://schemas.openxmlformats.org/officeDocument/2006/relationships/notesSlide" Target="/ppt/notesSlides/notesSlide14.xml" Id="Ra9bb650b1ef0410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c87c6fcb83c45e1" /><Relationship Type="http://schemas.openxmlformats.org/officeDocument/2006/relationships/image" Target="/ppt/media/image13.png" Id="Rc40847fc3a604092" /><Relationship Type="http://schemas.openxmlformats.org/officeDocument/2006/relationships/notesSlide" Target="/ppt/notesSlides/notesSlide15.xml" Id="Rd315965d5897427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365f526030f455d" /><Relationship Type="http://schemas.openxmlformats.org/officeDocument/2006/relationships/notesSlide" Target="/ppt/notesSlides/notesSlide16.xml" Id="Radd688213fe94f1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168ad752add43ee" /><Relationship Type="http://schemas.openxmlformats.org/officeDocument/2006/relationships/image" Target="/ppt/media/image14.png" Id="R1a5bf2cda7c246da" /><Relationship Type="http://schemas.openxmlformats.org/officeDocument/2006/relationships/notesSlide" Target="/ppt/notesSlides/notesSlide17.xml" Id="R5ba8aa8788d947d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db4b7d7f1a14469" /><Relationship Type="http://schemas.openxmlformats.org/officeDocument/2006/relationships/image" Target="/ppt/media/image15.png" Id="R56aef793b563401f" /><Relationship Type="http://schemas.openxmlformats.org/officeDocument/2006/relationships/notesSlide" Target="/ppt/notesSlides/notesSlide18.xml" Id="Rc298f59105b94b9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d9a5f4a04694c31" /><Relationship Type="http://schemas.openxmlformats.org/officeDocument/2006/relationships/notesSlide" Target="/ppt/notesSlides/notesSlide19.xml" Id="Rb18d27b88fd54ae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7d1a4bdc0044114" /><Relationship Type="http://schemas.openxmlformats.org/officeDocument/2006/relationships/image" Target="/ppt/media/image16.png" Id="Rc590732fda8443e2" /><Relationship Type="http://schemas.openxmlformats.org/officeDocument/2006/relationships/notesSlide" Target="/ppt/notesSlides/notesSlide20.xml" Id="R503b0dd09c104ac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4466db056de453f" /><Relationship Type="http://schemas.openxmlformats.org/officeDocument/2006/relationships/notesSlide" Target="/ppt/notesSlides/notesSlide21.xml" Id="R55fc5333111f445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11bab94d3d424213" /><Relationship Type="http://schemas.openxmlformats.org/officeDocument/2006/relationships/notesSlide" Target="/ppt/notesSlides/notesSlide22.xml" Id="R4e9e1208f308488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Before</c:v>
          </c:tx>
          <c:spPr>
            <a:solidFill xmlns:a="http://schemas.openxmlformats.org/drawingml/2006/main">
              <a:srgbClr val="B9C5CD"/>
            </a:solidFill>
          </c:spPr>
          <c:invertIfNegative val="0"/>
          <c:cat>
            <c:strRef>
              <c:f>'Chart Data'!$A$2:$A$3</c:f>
              <c:strCache>
                <c:ptCount val="2"/>
                <c:pt idx="0">
                  <c:v>Activation (n = 34)</c:v>
                </c:pt>
                <c:pt idx="1">
                  <c:v>Controls (n = 47)</c:v>
                </c:pt>
              </c:strCache>
            </c:strRef>
          </c:cat>
          <c:val>
            <c:numRef>
              <c:f>'Chart Data'!$B$2:$B$3</c:f>
              <c:numCache>
                <c:formatCode>0</c:formatCode>
                <c:ptCount val="2"/>
                <c:pt idx="0">
                  <c:v>1.36029412</c:v>
                </c:pt>
                <c:pt idx="1">
                  <c:v>2.07446809</c:v>
                </c:pt>
              </c:numCache>
            </c:numRef>
          </c:val>
        </c:ser>
        <c:ser>
          <c:idx val="1"/>
          <c:order val="1"/>
          <c:tx>
            <c:v>During</c:v>
          </c:tx>
          <c:spPr>
            <a:solidFill xmlns:a="http://schemas.openxmlformats.org/drawingml/2006/main">
              <a:srgbClr val="B85F35"/>
            </a:solidFill>
          </c:spPr>
          <c:invertIfNegative val="0"/>
          <c:cat>
            <c:strRef>
              <c:f>'Chart Data'!$C$2:$C$3</c:f>
              <c:strCache>
                <c:ptCount val="2"/>
                <c:pt idx="0">
                  <c:v>Activation (n = 34)</c:v>
                </c:pt>
                <c:pt idx="1">
                  <c:v>Controls (n = 47)</c:v>
                </c:pt>
              </c:strCache>
            </c:strRef>
          </c:cat>
          <c:val>
            <c:numRef>
              <c:f>'Chart Data'!$D$2:$D$3</c:f>
              <c:numCache>
                <c:formatCode>0</c:formatCode>
                <c:ptCount val="2"/>
                <c:pt idx="0">
                  <c:v>4.81617647</c:v>
                </c:pt>
                <c:pt idx="1">
                  <c:v>2.55319149</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425">
                  <a:solidFill>
                    <a:srgbClr val="182B3A"/>
                  </a:solidFill>
                  <a:latin typeface="Arial"/>
                  <a:ea typeface="Arial"/>
                  <a:cs typeface="Arial"/>
                </a:defRPr>
              </a:pPr>
            </a:p>
          </c:txPr>
          <c:dLblPos val="outEnd"/>
          <c:showLegendKey val="0"/>
          <c:showVal val="1"/>
          <c:showCatName val="0"/>
          <c:showSerName val="0"/>
          <c:showPercent val="0"/>
          <c:showBubbleSize val="0"/>
          <c:showLeaderLines val="0"/>
        </c:dLbls>
        <c:gapWidth val="1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0E5"/>
            </a:solidFill>
          </a:ln>
        </c:spPr>
        <c:txPr>
          <a:bodyPr xmlns:a="http://schemas.openxmlformats.org/drawingml/2006/main" anchorCtr="1"/>
          <a:lstStyle xmlns:a="http://schemas.openxmlformats.org/drawingml/2006/main"/>
          <a:p xmlns:a="http://schemas.openxmlformats.org/drawingml/2006/main">
            <a:pPr>
              <a:defRPr sz="1425">
                <a:solidFill>
                  <a:srgbClr val="182B3A"/>
                </a:solidFill>
                <a:latin typeface="Arial"/>
                <a:ea typeface="Arial"/>
                <a:cs typeface="Arial"/>
              </a:defRPr>
            </a:pPr>
          </a:p>
        </c:txPr>
        <c:crossAx val="48672768"/>
      </c:catAx>
      <c:valAx>
        <c:axId val="48672768"/>
        <c:scaling>
          <c:orientation val="minMax"/>
          <c:max val="6"/>
          <c:min val="0"/>
        </c:scaling>
        <c:delete val="0"/>
        <c:axPos val="l"/>
        <c:majorGridlines>
          <c:spPr>
            <a:ln xmlns:a="http://schemas.openxmlformats.org/drawingml/2006/main" w="9525">
              <a:solidFill>
                <a:srgbClr val="E4E9ED"/>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Pivot-like events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82B3A"/>
                </a:solidFill>
                <a:latin typeface="Arial"/>
                <a:ea typeface="Arial"/>
                <a:cs typeface="Arial"/>
              </a:defRPr>
            </a:pPr>
          </a:p>
        </c:txPr>
        <c:crossAx val="48650112"/>
        <c:crossBetween val="between"/>
        <c:majorUnit val="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82B3A"/>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2B3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63FA572-0F98-4528-99C8-4F6462A0FEB7}"/>
              </a:ext>
            </a:extLst>
          </p:cNvPr>
          <p:cNvSpPr>
            <a:spLocks xmlns:a="http://schemas.openxmlformats.org/drawingml/2006/main" noGrp="1"/>
          </p:cNvSpPr>
          <p:nvPr/>
        </p:nvSpPr>
        <p:spPr>
          <a:xfrm xmlns:a="http://schemas.openxmlformats.org/drawingml/2006/main">
            <a:off x="685800" y="619125"/>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C8D5DE"/>
                </a:solidFill>
                <a:latin typeface="Arial"/>
                <a:ea typeface="Arial"/>
                <a:cs typeface="Arial"/>
              </a:defRPr>
            </a:defPPr>
          </a:lstStyle>
          <a:p xmlns:a="http://schemas.openxmlformats.org/drawingml/2006/main">
            <a:pPr>
              <a:defRPr sz="1500" b="1">
                <a:solidFill>
                  <a:srgbClr val="C8D5DE"/>
                </a:solidFill>
                <a:latin typeface="Arial"/>
                <a:ea typeface="Arial"/>
                <a:cs typeface="Arial"/>
              </a:defRPr>
            </a:pPr>
            <a:r>
              <a:rPr sz="1500" b="1">
                <a:solidFill>
                  <a:srgbClr val="C8D5DE"/>
                </a:solidFill>
                <a:latin typeface="Arial"/>
                <a:ea typeface="Arial"/>
                <a:cs typeface="Arial"/>
              </a:rPr>
              <a:t>WILSON LAB</a:t>
            </a:r>
          </a:p>
        </p:txBody>
      </p:sp>
      <p:sp>
        <p:nvSpPr>
          <p:cNvPr id="2" name="">
            <a:extLst xmlns:a="http://schemas.openxmlformats.org/drawingml/2006/main">
              <a:ext uri="{FF2B5EF4-FFF2-40B4-BE49-F238E27FC236}">
                <a16:creationId xmlns:a16="http://schemas.microsoft.com/office/drawing/2014/main" id="{A3DE6A01-A4E2-40D1-A5FE-FE85B305F6FF}"/>
              </a:ext>
            </a:extLst>
          </p:cNvPr>
          <p:cNvSpPr>
            <a:spLocks xmlns:a="http://schemas.openxmlformats.org/drawingml/2006/main" noGrp="1"/>
          </p:cNvSpPr>
          <p:nvPr/>
        </p:nvSpPr>
        <p:spPr>
          <a:xfrm xmlns:a="http://schemas.openxmlformats.org/drawingml/2006/main">
            <a:off x="685800" y="19240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250" b="1">
                <a:solidFill>
                  <a:srgbClr val="FFFFFF"/>
                </a:solidFill>
                <a:latin typeface="Arial"/>
                <a:ea typeface="Arial"/>
                <a:cs typeface="Arial"/>
              </a:defRPr>
            </a:defPPr>
          </a:lstStyle>
          <a:p xmlns:a="http://schemas.openxmlformats.org/drawingml/2006/main">
            <a:pPr>
              <a:defRPr sz="5250" b="1">
                <a:solidFill>
                  <a:srgbClr val="FFFFFF"/>
                </a:solidFill>
                <a:latin typeface="Arial"/>
                <a:ea typeface="Arial"/>
                <a:cs typeface="Arial"/>
              </a:defRPr>
            </a:pPr>
            <a:r>
              <a:rPr sz="5250" b="1">
                <a:solidFill>
                  <a:srgbClr val="FFFFFF"/>
                </a:solidFill>
                <a:latin typeface="Arial"/>
                <a:ea typeface="Arial"/>
                <a:cs typeface="Arial"/>
              </a:rPr>
              <a:t>VES041 activation</a:t>
            </a:r>
          </a:p>
        </p:txBody>
      </p:sp>
      <p:sp>
        <p:nvSpPr>
          <p:cNvPr id="3" name="">
            <a:extLst xmlns:a="http://schemas.openxmlformats.org/drawingml/2006/main">
              <a:ext uri="{FF2B5EF4-FFF2-40B4-BE49-F238E27FC236}">
                <a16:creationId xmlns:a16="http://schemas.microsoft.com/office/drawing/2014/main" id="{263D6BA0-E2A6-4C3D-B0EE-55FC08F58661}"/>
              </a:ext>
            </a:extLst>
          </p:cNvPr>
          <p:cNvSpPr>
            <a:spLocks xmlns:a="http://schemas.openxmlformats.org/drawingml/2006/main" noGrp="1"/>
          </p:cNvSpPr>
          <p:nvPr/>
        </p:nvSpPr>
        <p:spPr>
          <a:xfrm xmlns:a="http://schemas.openxmlformats.org/drawingml/2006/main">
            <a:off x="723900" y="2962275"/>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0">
                <a:solidFill>
                  <a:srgbClr val="E0E7EC"/>
                </a:solidFill>
                <a:latin typeface="Arial"/>
                <a:ea typeface="Arial"/>
                <a:cs typeface="Arial"/>
              </a:defRPr>
            </a:defPPr>
          </a:lstStyle>
          <a:p xmlns:a="http://schemas.openxmlformats.org/drawingml/2006/main">
            <a:pPr>
              <a:defRPr sz="2850" b="0">
                <a:solidFill>
                  <a:srgbClr val="E0E7EC"/>
                </a:solidFill>
                <a:latin typeface="Arial"/>
                <a:ea typeface="Arial"/>
                <a:cs typeface="Arial"/>
              </a:defRPr>
            </a:pPr>
            <a:r>
              <a:rPr sz="2850" b="0">
                <a:solidFill>
                  <a:srgbClr val="E0E7EC"/>
                </a:solidFill>
                <a:latin typeface="Arial"/>
                <a:ea typeface="Arial"/>
                <a:cs typeface="Arial"/>
              </a:rPr>
              <a:t>csChrimson behavioral data</a:t>
            </a:r>
          </a:p>
        </p:txBody>
      </p:sp>
      <p:sp>
        <p:nvSpPr>
          <p:cNvPr id="4" name="">
            <a:extLst xmlns:a="http://schemas.openxmlformats.org/drawingml/2006/main">
              <a:ext uri="{FF2B5EF4-FFF2-40B4-BE49-F238E27FC236}">
                <a16:creationId xmlns:a16="http://schemas.microsoft.com/office/drawing/2014/main" id="{1A5C8750-AB83-40FC-99B7-AE6D3AED95A8}"/>
              </a:ext>
            </a:extLst>
          </p:cNvPr>
          <p:cNvSpPr>
            <a:spLocks xmlns:a="http://schemas.openxmlformats.org/drawingml/2006/main" noGrp="1"/>
          </p:cNvSpPr>
          <p:nvPr/>
        </p:nvSpPr>
        <p:spPr>
          <a:xfrm xmlns:a="http://schemas.openxmlformats.org/drawingml/2006/main">
            <a:off x="723900" y="3867150"/>
            <a:ext cx="1000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C8D5DE"/>
                </a:solidFill>
                <a:latin typeface="Arial"/>
                <a:ea typeface="Arial"/>
                <a:cs typeface="Arial"/>
              </a:defRPr>
            </a:defPPr>
          </a:lstStyle>
          <a:p xmlns:a="http://schemas.openxmlformats.org/drawingml/2006/main">
            <a:pPr>
              <a:defRPr sz="2025" b="0">
                <a:solidFill>
                  <a:srgbClr val="C8D5DE"/>
                </a:solidFill>
                <a:latin typeface="Arial"/>
                <a:ea typeface="Arial"/>
                <a:cs typeface="Arial"/>
              </a:defRPr>
            </a:pPr>
            <a:r>
              <a:rPr sz="2025" b="0">
                <a:solidFill>
                  <a:srgbClr val="C8D5DE"/>
                </a:solidFill>
                <a:latin typeface="Arial"/>
                <a:ea typeface="Arial"/>
                <a:cs typeface="Arial"/>
              </a:rPr>
              <a:t>Turning, forward motion and pivot-like events</a:t>
            </a:r>
          </a:p>
        </p:txBody>
      </p:sp>
      <p:sp>
        <p:nvSpPr>
          <p:cNvPr id="5" name="">
            <a:extLst xmlns:a="http://schemas.openxmlformats.org/drawingml/2006/main">
              <a:ext uri="{FF2B5EF4-FFF2-40B4-BE49-F238E27FC236}">
                <a16:creationId xmlns:a16="http://schemas.microsoft.com/office/drawing/2014/main" id="{9DA43975-F78A-4D0A-A33C-88F553214244}"/>
              </a:ext>
            </a:extLst>
          </p:cNvPr>
          <p:cNvSpPr>
            <a:spLocks xmlns:a="http://schemas.openxmlformats.org/drawingml/2006/main" noGrp="1"/>
          </p:cNvSpPr>
          <p:nvPr/>
        </p:nvSpPr>
        <p:spPr>
          <a:xfrm xmlns:a="http://schemas.openxmlformats.org/drawingml/2006/main">
            <a:off x="723900" y="5372100"/>
            <a:ext cx="10744200" cy="0"/>
          </a:xfrm>
          <a:prstGeom xmlns:a="http://schemas.openxmlformats.org/drawingml/2006/main" prst="line">
            <a:avLst/>
          </a:prstGeom>
          <a:noFill xmlns:a="http://schemas.openxmlformats.org/drawingml/2006/main"/>
          <a:ln xmlns:a="http://schemas.openxmlformats.org/drawingml/2006/main" w="9525">
            <a:solidFill>
              <a:srgbClr val="536573"/>
            </a:solidFill>
            <a:prstDash val="solid"/>
          </a:ln>
        </p:spPr>
      </p:sp>
      <p:sp>
        <p:nvSpPr>
          <p:cNvPr id="6" name="">
            <a:extLst xmlns:a="http://schemas.openxmlformats.org/drawingml/2006/main">
              <a:ext uri="{FF2B5EF4-FFF2-40B4-BE49-F238E27FC236}">
                <a16:creationId xmlns:a16="http://schemas.microsoft.com/office/drawing/2014/main" id="{0ED0B4AB-7C5E-4A65-9081-C9B78AE35B41}"/>
              </a:ext>
            </a:extLst>
          </p:cNvPr>
          <p:cNvSpPr>
            <a:spLocks xmlns:a="http://schemas.openxmlformats.org/drawingml/2006/main" noGrp="1"/>
          </p:cNvSpPr>
          <p:nvPr/>
        </p:nvSpPr>
        <p:spPr>
          <a:xfrm xmlns:a="http://schemas.openxmlformats.org/drawingml/2006/main">
            <a:off x="723900" y="56578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E0E7EC"/>
                </a:solidFill>
                <a:latin typeface="Arial"/>
                <a:ea typeface="Arial"/>
                <a:cs typeface="Arial"/>
              </a:defRPr>
            </a:defPPr>
          </a:lstStyle>
          <a:p xmlns:a="http://schemas.openxmlformats.org/drawingml/2006/main">
            <a:pPr>
              <a:defRPr sz="1650" b="0">
                <a:solidFill>
                  <a:srgbClr val="E0E7EC"/>
                </a:solidFill>
                <a:latin typeface="Arial"/>
                <a:ea typeface="Arial"/>
                <a:cs typeface="Arial"/>
              </a:defRPr>
            </a:pPr>
            <a:r>
              <a:rPr sz="1650" b="0">
                <a:solidFill>
                  <a:srgbClr val="E0E7EC"/>
                </a:solidFill>
                <a:latin typeface="Arial"/>
                <a:ea typeface="Arial"/>
                <a:cs typeface="Arial"/>
              </a:rPr>
              <a:t>Experiments: Sophia Renauld and Victoria Rockwell</a:t>
            </a:r>
          </a:p>
        </p:txBody>
      </p:sp>
      <p:sp>
        <p:nvSpPr>
          <p:cNvPr id="7" name="">
            <a:extLst xmlns:a="http://schemas.openxmlformats.org/drawingml/2006/main">
              <a:ext uri="{FF2B5EF4-FFF2-40B4-BE49-F238E27FC236}">
                <a16:creationId xmlns:a16="http://schemas.microsoft.com/office/drawing/2014/main" id="{7EA15879-35CD-4B07-BDE1-34A248C0519C}"/>
              </a:ext>
            </a:extLst>
          </p:cNvPr>
          <p:cNvSpPr>
            <a:spLocks xmlns:a="http://schemas.openxmlformats.org/drawingml/2006/main" noGrp="1"/>
          </p:cNvSpPr>
          <p:nvPr/>
        </p:nvSpPr>
        <p:spPr>
          <a:xfrm xmlns:a="http://schemas.openxmlformats.org/drawingml/2006/main">
            <a:off x="723900" y="61055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B6C5CF"/>
                </a:solidFill>
                <a:latin typeface="Arial"/>
                <a:ea typeface="Arial"/>
                <a:cs typeface="Arial"/>
              </a:defRPr>
            </a:defPPr>
          </a:lstStyle>
          <a:p xmlns:a="http://schemas.openxmlformats.org/drawingml/2006/main">
            <a:pPr>
              <a:defRPr sz="1350" b="0">
                <a:solidFill>
                  <a:srgbClr val="B6C5CF"/>
                </a:solidFill>
                <a:latin typeface="Arial"/>
                <a:ea typeface="Arial"/>
                <a:cs typeface="Arial"/>
              </a:defRPr>
            </a:pPr>
            <a:r>
              <a:rPr sz="1350" b="0">
                <a:solidFill>
                  <a:srgbClr val="B6C5CF"/>
                </a:solidFill>
                <a:latin typeface="Arial"/>
                <a:ea typeface="Arial"/>
                <a:cs typeface="Arial"/>
              </a:rPr>
              <a:t>Local-data reanalysis  /  13 October 2026</a:t>
            </a:r>
          </a:p>
        </p:txBody>
      </p:sp>
    </p:spTree>
    <p:extLst>
      <p:ext uri="{BB962C8B-B14F-4D97-AF65-F5344CB8AC3E}">
        <p14:creationId xmlns:p14="http://schemas.microsoft.com/office/powerpoint/2010/main" val="177409370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7845DF9-66D6-4398-89FF-EE3C7BCE04CF}"/>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EXPERIMENT</a:t>
            </a:r>
          </a:p>
        </p:txBody>
      </p:sp>
      <p:sp>
        <p:nvSpPr>
          <p:cNvPr id="2" name="">
            <a:extLst xmlns:a="http://schemas.openxmlformats.org/drawingml/2006/main">
              <a:ext uri="{FF2B5EF4-FFF2-40B4-BE49-F238E27FC236}">
                <a16:creationId xmlns:a16="http://schemas.microsoft.com/office/drawing/2014/main" id="{FA54CD51-EFAD-4D13-AEBD-C60C881223EA}"/>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Brief activation during closed-loop walking</a:t>
            </a:r>
          </a:p>
        </p:txBody>
      </p:sp>
      <p:sp>
        <p:nvSpPr>
          <p:cNvPr id="3" name="">
            <a:extLst xmlns:a="http://schemas.openxmlformats.org/drawingml/2006/main">
              <a:ext uri="{FF2B5EF4-FFF2-40B4-BE49-F238E27FC236}">
                <a16:creationId xmlns:a16="http://schemas.microsoft.com/office/drawing/2014/main" id="{C908A1DE-48D5-4379-B077-D5A774145B39}"/>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Later blinded cohort: two VES041 split lines and three control genotypes</a:t>
            </a:r>
          </a:p>
        </p:txBody>
      </p:sp>
      <p:sp>
        <p:nvSpPr>
          <p:cNvPr id="4" name="">
            <a:extLst xmlns:a="http://schemas.openxmlformats.org/drawingml/2006/main">
              <a:ext uri="{FF2B5EF4-FFF2-40B4-BE49-F238E27FC236}">
                <a16:creationId xmlns:a16="http://schemas.microsoft.com/office/drawing/2014/main" id="{2FA9449D-EF01-47CB-9A3B-B2D4181F6C88}"/>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3EDBD58A-AE88-4443-9EE7-49F5AF1ED084}"/>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Protocol and schematic: labmeeting_9, slide 18.</a:t>
            </a:r>
          </a:p>
        </p:txBody>
      </p:sp>
      <p:sp>
        <p:nvSpPr>
          <p:cNvPr id="6" name="">
            <a:extLst xmlns:a="http://schemas.openxmlformats.org/drawingml/2006/main">
              <a:ext uri="{FF2B5EF4-FFF2-40B4-BE49-F238E27FC236}">
                <a16:creationId xmlns:a16="http://schemas.microsoft.com/office/drawing/2014/main" id="{334A239B-580A-4E56-A2A6-AF029B8A8FCA}"/>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02</a:t>
            </a:r>
          </a:p>
        </p:txBody>
      </p:sp>
      <p:pic>
        <p:nvPicPr>
          <p:cNvPr id="7" name="">
            <a:extLst xmlns:a="http://schemas.openxmlformats.org/drawingml/2006/main">
              <a:ext uri="{FF2B5EF4-FFF2-40B4-BE49-F238E27FC236}">
                <a16:creationId xmlns:a16="http://schemas.microsoft.com/office/drawing/2014/main" id="{D14C50D9-704B-4BD6-99AB-397372F54843}"/>
              </a:ext>
            </a:extLst>
          </p:cNvPr>
          <p:cNvPicPr>
            <a:picLocks xmlns:a="http://schemas.openxmlformats.org/drawingml/2006/main" noChangeAspect="1"/>
          </p:cNvPicPr>
          <p:nvPr/>
        </p:nvPicPr>
        <p:blipFill>
          <a:blip xmlns:r="http://schemas.openxmlformats.org/officeDocument/2006/relationships" xmlns:a="http://schemas.openxmlformats.org/drawingml/2006/main" r:embed="Rac055a4d98574bda"/>
          <a:srcRect xmlns:a="http://schemas.openxmlformats.org/drawingml/2006/main" l="24000" t="16000" r="30000" b="8000"/>
          <a:stretch xmlns:a="http://schemas.openxmlformats.org/drawingml/2006/main"/>
        </p:blipFill>
        <p:spPr>
          <a:xfrm xmlns:a="http://schemas.openxmlformats.org/drawingml/2006/main">
            <a:off x="704850" y="1933575"/>
            <a:ext cx="5067300" cy="39719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846EAE0-DA0A-44A7-89B9-01F279BFFBB0}"/>
              </a:ext>
            </a:extLst>
          </p:cNvPr>
          <p:cNvSpPr>
            <a:spLocks xmlns:a="http://schemas.openxmlformats.org/drawingml/2006/main" noGrp="1"/>
          </p:cNvSpPr>
          <p:nvPr/>
        </p:nvSpPr>
        <p:spPr>
          <a:xfrm xmlns:a="http://schemas.openxmlformats.org/drawingml/2006/main">
            <a:off x="6362700" y="2038350"/>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B85F35"/>
                </a:solidFill>
                <a:latin typeface="Arial"/>
                <a:ea typeface="Arial"/>
                <a:cs typeface="Arial"/>
              </a:defRPr>
            </a:defPPr>
          </a:lstStyle>
          <a:p xmlns:a="http://schemas.openxmlformats.org/drawingml/2006/main">
            <a:pPr>
              <a:defRPr sz="2700" b="1">
                <a:solidFill>
                  <a:srgbClr val="B85F35"/>
                </a:solidFill>
                <a:latin typeface="Arial"/>
                <a:ea typeface="Arial"/>
                <a:cs typeface="Arial"/>
              </a:defRPr>
            </a:pPr>
            <a:r>
              <a:rPr sz="2700" b="1">
                <a:solidFill>
                  <a:srgbClr val="B85F35"/>
                </a:solidFill>
                <a:latin typeface="Arial"/>
                <a:ea typeface="Arial"/>
                <a:cs typeface="Arial"/>
              </a:rPr>
              <a:t>1 s light pulse</a:t>
            </a:r>
          </a:p>
        </p:txBody>
      </p:sp>
      <p:sp>
        <p:nvSpPr>
          <p:cNvPr id="9" name="">
            <a:extLst xmlns:a="http://schemas.openxmlformats.org/drawingml/2006/main">
              <a:ext uri="{FF2B5EF4-FFF2-40B4-BE49-F238E27FC236}">
                <a16:creationId xmlns:a16="http://schemas.microsoft.com/office/drawing/2014/main" id="{BE30F8BB-7008-4C81-BF95-A6A255DD93A5}"/>
              </a:ext>
            </a:extLst>
          </p:cNvPr>
          <p:cNvSpPr>
            <a:spLocks xmlns:a="http://schemas.openxmlformats.org/drawingml/2006/main" noGrp="1"/>
          </p:cNvSpPr>
          <p:nvPr/>
        </p:nvSpPr>
        <p:spPr>
          <a:xfrm xmlns:a="http://schemas.openxmlformats.org/drawingml/2006/main">
            <a:off x="6362700" y="2686050"/>
            <a:ext cx="5048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2B3A"/>
                </a:solidFill>
                <a:latin typeface="Arial"/>
                <a:ea typeface="Arial"/>
                <a:cs typeface="Arial"/>
              </a:defRPr>
            </a:defPPr>
          </a:lstStyle>
          <a:p xmlns:a="http://schemas.openxmlformats.org/drawingml/2006/main">
            <a:pPr>
              <a:defRPr sz="2025" b="0">
                <a:solidFill>
                  <a:srgbClr val="182B3A"/>
                </a:solidFill>
                <a:latin typeface="Arial"/>
                <a:ea typeface="Arial"/>
                <a:cs typeface="Arial"/>
              </a:defRPr>
            </a:pPr>
            <a:r>
              <a:rPr sz="2025" b="0">
                <a:solidFill>
                  <a:srgbClr val="182B3A"/>
                </a:solidFill>
                <a:latin typeface="Arial"/>
                <a:ea typeface="Arial"/>
                <a:cs typeface="Arial"/>
              </a:rPr>
              <a:t>Every 14.5 s during a 20 min trial</a:t>
            </a:r>
          </a:p>
          <a:p xmlns:a="http://schemas.openxmlformats.org/drawingml/2006/main">
            <a:pPr>
              <a:defRPr sz="2025" b="0">
                <a:solidFill>
                  <a:srgbClr val="182B3A"/>
                </a:solidFill>
                <a:latin typeface="Arial"/>
                <a:ea typeface="Arial"/>
                <a:cs typeface="Arial"/>
              </a:defRPr>
            </a:pPr>
            <a:r>
              <a:rPr sz="2025" b="0">
                <a:solidFill>
                  <a:srgbClr val="182B3A"/>
                </a:solidFill>
                <a:latin typeface="Arial"/>
                <a:ea typeface="Arial"/>
                <a:cs typeface="Arial"/>
              </a:rPr>
              <a:t>Closed-loop visual bar</a:t>
            </a:r>
          </a:p>
        </p:txBody>
      </p:sp>
      <p:sp>
        <p:nvSpPr>
          <p:cNvPr id="10" name="">
            <a:extLst xmlns:a="http://schemas.openxmlformats.org/drawingml/2006/main">
              <a:ext uri="{FF2B5EF4-FFF2-40B4-BE49-F238E27FC236}">
                <a16:creationId xmlns:a16="http://schemas.microsoft.com/office/drawing/2014/main" id="{8E72B635-7384-4774-BB29-278A2F57897F}"/>
              </a:ext>
            </a:extLst>
          </p:cNvPr>
          <p:cNvSpPr>
            <a:spLocks xmlns:a="http://schemas.openxmlformats.org/drawingml/2006/main" noGrp="1"/>
          </p:cNvSpPr>
          <p:nvPr/>
        </p:nvSpPr>
        <p:spPr>
          <a:xfrm xmlns:a="http://schemas.openxmlformats.org/drawingml/2006/main">
            <a:off x="6362700" y="3800475"/>
            <a:ext cx="48006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11" name="">
            <a:extLst xmlns:a="http://schemas.openxmlformats.org/drawingml/2006/main">
              <a:ext uri="{FF2B5EF4-FFF2-40B4-BE49-F238E27FC236}">
                <a16:creationId xmlns:a16="http://schemas.microsoft.com/office/drawing/2014/main" id="{0CD7FD6A-74B5-4F43-B3F6-DF44C17EC7D2}"/>
              </a:ext>
            </a:extLst>
          </p:cNvPr>
          <p:cNvSpPr>
            <a:spLocks xmlns:a="http://schemas.openxmlformats.org/drawingml/2006/main" noGrp="1"/>
          </p:cNvSpPr>
          <p:nvPr/>
        </p:nvSpPr>
        <p:spPr>
          <a:xfrm xmlns:a="http://schemas.openxmlformats.org/drawingml/2006/main">
            <a:off x="6362700" y="4133850"/>
            <a:ext cx="4857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82B3A"/>
                </a:solidFill>
                <a:latin typeface="Arial"/>
                <a:ea typeface="Arial"/>
                <a:cs typeface="Arial"/>
              </a:defRPr>
            </a:defPPr>
          </a:lstStyle>
          <a:p xmlns:a="http://schemas.openxmlformats.org/drawingml/2006/main">
            <a:pPr>
              <a:defRPr sz="1950" b="1">
                <a:solidFill>
                  <a:srgbClr val="182B3A"/>
                </a:solidFill>
                <a:latin typeface="Arial"/>
                <a:ea typeface="Arial"/>
                <a:cs typeface="Arial"/>
              </a:defRPr>
            </a:pPr>
            <a:r>
              <a:rPr sz="1950" b="1">
                <a:solidFill>
                  <a:srgbClr val="182B3A"/>
                </a:solidFill>
                <a:latin typeface="Arial"/>
                <a:ea typeface="Arial"/>
                <a:cs typeface="Arial"/>
              </a:rPr>
              <a:t>VES041 line 1 and line 2 × csChrimson</a:t>
            </a:r>
          </a:p>
        </p:txBody>
      </p:sp>
      <p:sp>
        <p:nvSpPr>
          <p:cNvPr id="12" name="">
            <a:extLst xmlns:a="http://schemas.openxmlformats.org/drawingml/2006/main">
              <a:ext uri="{FF2B5EF4-FFF2-40B4-BE49-F238E27FC236}">
                <a16:creationId xmlns:a16="http://schemas.microsoft.com/office/drawing/2014/main" id="{32749E75-6432-4CB8-847E-E8E782B09503}"/>
              </a:ext>
            </a:extLst>
          </p:cNvPr>
          <p:cNvSpPr>
            <a:spLocks xmlns:a="http://schemas.openxmlformats.org/drawingml/2006/main" noGrp="1"/>
          </p:cNvSpPr>
          <p:nvPr/>
        </p:nvSpPr>
        <p:spPr>
          <a:xfrm xmlns:a="http://schemas.openxmlformats.org/drawingml/2006/main">
            <a:off x="6362700" y="5038725"/>
            <a:ext cx="48958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86776"/>
                </a:solidFill>
                <a:latin typeface="Arial"/>
                <a:ea typeface="Arial"/>
                <a:cs typeface="Arial"/>
              </a:defRPr>
            </a:defPPr>
          </a:lstStyle>
          <a:p xmlns:a="http://schemas.openxmlformats.org/drawingml/2006/main">
            <a:pPr>
              <a:defRPr sz="1875" b="0">
                <a:solidFill>
                  <a:srgbClr val="586776"/>
                </a:solidFill>
                <a:latin typeface="Arial"/>
                <a:ea typeface="Arial"/>
                <a:cs typeface="Arial"/>
              </a:defRPr>
            </a:pPr>
            <a:r>
              <a:rPr sz="1875" b="0">
                <a:solidFill>
                  <a:srgbClr val="586776"/>
                </a:solidFill>
                <a:latin typeface="Arial"/>
                <a:ea typeface="Arial"/>
                <a:cs typeface="Arial"/>
              </a:rPr>
              <a:t>Matched line × GFP controls</a:t>
            </a:r>
          </a:p>
          <a:p xmlns:a="http://schemas.openxmlformats.org/drawingml/2006/main">
            <a:pPr>
              <a:defRPr sz="1875" b="0">
                <a:solidFill>
                  <a:srgbClr val="586776"/>
                </a:solidFill>
                <a:latin typeface="Arial"/>
                <a:ea typeface="Arial"/>
                <a:cs typeface="Arial"/>
              </a:defRPr>
            </a:pPr>
            <a:r>
              <a:rPr sz="1875" b="0">
                <a:solidFill>
                  <a:srgbClr val="586776"/>
                </a:solidFill>
                <a:latin typeface="Arial"/>
                <a:ea typeface="Arial"/>
                <a:cs typeface="Arial"/>
              </a:rPr>
              <a:t>Empty-split × csChrimson control</a:t>
            </a:r>
          </a:p>
        </p:txBody>
      </p:sp>
    </p:spTree>
    <p:extLst>
      <p:ext uri="{BB962C8B-B14F-4D97-AF65-F5344CB8AC3E}">
        <p14:creationId xmlns:p14="http://schemas.microsoft.com/office/powerpoint/2010/main" val="213293446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33410E7-FE8B-42DC-840B-3A11A34147BF}"/>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DATA COVERAGE</a:t>
            </a:r>
          </a:p>
        </p:txBody>
      </p:sp>
      <p:sp>
        <p:nvSpPr>
          <p:cNvPr id="2" name="">
            <a:extLst xmlns:a="http://schemas.openxmlformats.org/drawingml/2006/main">
              <a:ext uri="{FF2B5EF4-FFF2-40B4-BE49-F238E27FC236}">
                <a16:creationId xmlns:a16="http://schemas.microsoft.com/office/drawing/2014/main" id="{119A0EF8-1CF7-42D2-BDC8-F52F996527A9}"/>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Local data cover 84 flies, with pulse metrics for 81</a:t>
            </a:r>
          </a:p>
        </p:txBody>
      </p:sp>
      <p:sp>
        <p:nvSpPr>
          <p:cNvPr id="3" name="">
            <a:extLst xmlns:a="http://schemas.openxmlformats.org/drawingml/2006/main">
              <a:ext uri="{FF2B5EF4-FFF2-40B4-BE49-F238E27FC236}">
                <a16:creationId xmlns:a16="http://schemas.microsoft.com/office/drawing/2014/main" id="{6E3510B4-2094-40CE-BE36-1013373A8251}"/>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The pulse dataset contains 80 stimuli per fly, for 6,480 stimulation events</a:t>
            </a:r>
          </a:p>
        </p:txBody>
      </p:sp>
      <p:sp>
        <p:nvSpPr>
          <p:cNvPr id="4" name="">
            <a:extLst xmlns:a="http://schemas.openxmlformats.org/drawingml/2006/main">
              <a:ext uri="{FF2B5EF4-FFF2-40B4-BE49-F238E27FC236}">
                <a16:creationId xmlns:a16="http://schemas.microsoft.com/office/drawing/2014/main" id="{85371090-231A-4337-AA8F-FC2BDB705845}"/>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7BB73A65-EC3D-4ECC-A85A-1216C972179B}"/>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S1, S2, S5, S11. These are overlapping cohorts. Do not add their sample sizes.</a:t>
            </a:r>
          </a:p>
        </p:txBody>
      </p:sp>
      <p:sp>
        <p:nvSpPr>
          <p:cNvPr id="6" name="">
            <a:extLst xmlns:a="http://schemas.openxmlformats.org/drawingml/2006/main">
              <a:ext uri="{FF2B5EF4-FFF2-40B4-BE49-F238E27FC236}">
                <a16:creationId xmlns:a16="http://schemas.microsoft.com/office/drawing/2014/main" id="{A0BFE021-006B-4E03-9AE8-F75531CB6C96}"/>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03</a:t>
            </a:r>
          </a:p>
        </p:txBody>
      </p:sp>
      <p:graphicFrame>
        <p:nvGraphicFramePr>
          <p:cNvPr id="7" name="">
            <a:extLst xmlns:a="http://schemas.openxmlformats.org/drawingml/2006/main">
              <a:ext uri="{FF2B5EF4-FFF2-40B4-BE49-F238E27FC236}">
                <a16:creationId xmlns:a16="http://schemas.microsoft.com/office/drawing/2014/main" id="{4BEEE834-04D5-4CD9-8FC8-4D6607D94FB0}"/>
              </a:ext>
            </a:extLst>
          </p:cNvPr>
          <p:cNvGraphicFramePr/>
          <p:nvPr/>
        </p:nvGraphicFramePr>
        <p:xfrm>
          <a:off xmlns:a="http://schemas.openxmlformats.org/drawingml/2006/main" x="571500" y="1933575"/>
          <a:ext xmlns:a="http://schemas.openxmlformats.org/drawingml/2006/main" cx="11049000" cy="3371850"/>
        </p:xfrm>
        <a:graphic xmlns:a="http://schemas.openxmlformats.org/drawingml/2006/main">
          <a:graphicData uri="http://schemas.openxmlformats.org/drawingml/2006/table">
            <a:tbl>
              <a:tblPr/>
              <a:tblGrid>
                <a:gridCol w="4762500"/>
                <a:gridCol w="2286000"/>
                <a:gridCol w="2095500"/>
                <a:gridCol w="1905000"/>
              </a:tblGrid>
              <a:tr h="561975">
                <a:tc>
                  <a:txBody>
                    <a:bodyPr/>
                    <a:lstStyle/>
                    <a:p>
                      <a:r>
                        <a:rPr sz="1800" b="1">
                          <a:solidFill>
                            <a:srgbClr val="FFFFFF"/>
                          </a:solidFill>
                          <a:latin typeface="Arial"/>
                          <a:ea typeface="Arial"/>
                          <a:cs typeface="Arial"/>
                        </a:rPr>
                        <a:t>Genotype</a:t>
                      </a:r>
                    </a:p>
                  </a:txBody>
                  <a:tcPr marL="133350" marR="114300" marT="114300" marB="95250" anchor="ctr">
                    <a:solidFill>
                      <a:srgbClr val="182B3A"/>
                    </a:solidFill>
                  </a:tcPr>
                </a:tc>
                <a:tc>
                  <a:txBody>
                    <a:bodyPr/>
                    <a:lstStyle/>
                    <a:p>
                      <a:r>
                        <a:rPr sz="1800" b="1">
                          <a:solidFill>
                            <a:srgbClr val="FFFFFF"/>
                          </a:solidFill>
                          <a:latin typeface="Arial"/>
                          <a:ea typeface="Arial"/>
                          <a:cs typeface="Arial"/>
                        </a:rPr>
                        <a:t>Archived summary</a:t>
                      </a:r>
                    </a:p>
                  </a:txBody>
                  <a:tcPr marL="133350" marR="114300" marT="114300" marB="95250" anchor="ctr">
                    <a:solidFill>
                      <a:srgbClr val="182B3A"/>
                    </a:solidFill>
                  </a:tcPr>
                </a:tc>
                <a:tc>
                  <a:txBody>
                    <a:bodyPr/>
                    <a:lstStyle/>
                    <a:p>
                      <a:r>
                        <a:rPr sz="1800" b="1">
                          <a:solidFill>
                            <a:srgbClr val="FFFFFF"/>
                          </a:solidFill>
                          <a:latin typeface="Arial"/>
                          <a:ea typeface="Arial"/>
                          <a:cs typeface="Arial"/>
                        </a:rPr>
                        <a:t>Pulse analysis</a:t>
                      </a:r>
                    </a:p>
                  </a:txBody>
                  <a:tcPr marL="133350" marR="114300" marT="114300" marB="95250" anchor="ctr">
                    <a:solidFill>
                      <a:srgbClr val="182B3A"/>
                    </a:solidFill>
                  </a:tcPr>
                </a:tc>
                <a:tc>
                  <a:txBody>
                    <a:bodyPr/>
                    <a:lstStyle/>
                    <a:p>
                      <a:r>
                        <a:rPr sz="1800" b="1">
                          <a:solidFill>
                            <a:srgbClr val="FFFFFF"/>
                          </a:solidFill>
                          <a:latin typeface="Arial"/>
                          <a:ea typeface="Arial"/>
                          <a:cs typeface="Arial"/>
                        </a:rPr>
                        <a:t>Stimuli</a:t>
                      </a:r>
                    </a:p>
                  </a:txBody>
                  <a:tcPr marL="133350" marR="114300" marT="114300" marB="95250" anchor="ctr">
                    <a:solidFill>
                      <a:srgbClr val="182B3A"/>
                    </a:solidFill>
                  </a:tcPr>
                </a:tc>
              </a:tr>
              <a:tr h="561975">
                <a:tc>
                  <a:txBody>
                    <a:bodyPr/>
                    <a:lstStyle/>
                    <a:p>
                      <a:r>
                        <a:rPr sz="1800">
                          <a:solidFill>
                            <a:srgbClr val="182B3A"/>
                          </a:solidFill>
                          <a:latin typeface="Arial"/>
                          <a:ea typeface="Arial"/>
                          <a:cs typeface="Arial"/>
                        </a:rPr>
                        <a:t>Line 1 + csChrimson</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18</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18</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1440</a:t>
                      </a:r>
                    </a:p>
                  </a:txBody>
                  <a:tcPr marL="133350" marR="114300" marT="114300" marB="95250" anchor="ctr">
                    <a:solidFill>
                      <a:srgbClr val="FFFFFF"/>
                    </a:solidFill>
                  </a:tcPr>
                </a:tc>
              </a:tr>
              <a:tr h="561975">
                <a:tc>
                  <a:txBody>
                    <a:bodyPr/>
                    <a:lstStyle/>
                    <a:p>
                      <a:r>
                        <a:rPr sz="1800">
                          <a:solidFill>
                            <a:srgbClr val="182B3A"/>
                          </a:solidFill>
                          <a:latin typeface="Arial"/>
                          <a:ea typeface="Arial"/>
                          <a:cs typeface="Arial"/>
                        </a:rPr>
                        <a:t>Line 2 + csChrimson</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17</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16</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1280</a:t>
                      </a:r>
                    </a:p>
                  </a:txBody>
                  <a:tcPr marL="133350" marR="114300" marT="114300" marB="95250" anchor="ctr">
                    <a:solidFill>
                      <a:srgbClr val="FFFFFF"/>
                    </a:solidFill>
                  </a:tcPr>
                </a:tc>
              </a:tr>
              <a:tr h="561975">
                <a:tc>
                  <a:txBody>
                    <a:bodyPr/>
                    <a:lstStyle/>
                    <a:p>
                      <a:r>
                        <a:rPr sz="1800">
                          <a:solidFill>
                            <a:srgbClr val="182B3A"/>
                          </a:solidFill>
                          <a:latin typeface="Arial"/>
                          <a:ea typeface="Arial"/>
                          <a:cs typeface="Arial"/>
                        </a:rPr>
                        <a:t>Line 1 + GFP</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16</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16</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1280</a:t>
                      </a:r>
                    </a:p>
                  </a:txBody>
                  <a:tcPr marL="133350" marR="114300" marT="114300" marB="95250" anchor="ctr">
                    <a:solidFill>
                      <a:srgbClr val="FFFFFF"/>
                    </a:solidFill>
                  </a:tcPr>
                </a:tc>
              </a:tr>
              <a:tr h="561975">
                <a:tc>
                  <a:txBody>
                    <a:bodyPr/>
                    <a:lstStyle/>
                    <a:p>
                      <a:r>
                        <a:rPr sz="1800">
                          <a:solidFill>
                            <a:srgbClr val="182B3A"/>
                          </a:solidFill>
                          <a:latin typeface="Arial"/>
                          <a:ea typeface="Arial"/>
                          <a:cs typeface="Arial"/>
                        </a:rPr>
                        <a:t>Line 2 + GFP</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16</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16</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1280</a:t>
                      </a:r>
                    </a:p>
                  </a:txBody>
                  <a:tcPr marL="133350" marR="114300" marT="114300" marB="95250" anchor="ctr">
                    <a:solidFill>
                      <a:srgbClr val="FFFFFF"/>
                    </a:solidFill>
                  </a:tcPr>
                </a:tc>
              </a:tr>
              <a:tr h="561975">
                <a:tc>
                  <a:txBody>
                    <a:bodyPr/>
                    <a:lstStyle/>
                    <a:p>
                      <a:r>
                        <a:rPr sz="1800">
                          <a:solidFill>
                            <a:srgbClr val="182B3A"/>
                          </a:solidFill>
                          <a:latin typeface="Arial"/>
                          <a:ea typeface="Arial"/>
                          <a:cs typeface="Arial"/>
                        </a:rPr>
                        <a:t>Empty + csChrimson</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17</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15</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1200</a:t>
                      </a:r>
                    </a:p>
                  </a:txBody>
                  <a:tcPr marL="133350" marR="114300" marT="114300" marB="9525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1FC4F597-F304-4FA0-9623-A261624F44B6}"/>
              </a:ext>
            </a:extLst>
          </p:cNvPr>
          <p:cNvSpPr>
            <a:spLocks xmlns:a="http://schemas.openxmlformats.org/drawingml/2006/main" noGrp="1"/>
          </p:cNvSpPr>
          <p:nvPr/>
        </p:nvSpPr>
        <p:spPr>
          <a:xfrm xmlns:a="http://schemas.openxmlformats.org/drawingml/2006/main">
            <a:off x="609600" y="5619750"/>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82B3A"/>
                </a:solidFill>
                <a:latin typeface="Arial"/>
                <a:ea typeface="Arial"/>
                <a:cs typeface="Arial"/>
              </a:defRPr>
            </a:defPPr>
          </a:lstStyle>
          <a:p xmlns:a="http://schemas.openxmlformats.org/drawingml/2006/main">
            <a:pPr>
              <a:defRPr sz="1725" b="1">
                <a:solidFill>
                  <a:srgbClr val="182B3A"/>
                </a:solidFill>
                <a:latin typeface="Arial"/>
                <a:ea typeface="Arial"/>
                <a:cs typeface="Arial"/>
              </a:defRPr>
            </a:pPr>
            <a:r>
              <a:rPr sz="1725" b="1">
                <a:solidFill>
                  <a:srgbClr val="182B3A"/>
                </a:solidFill>
                <a:latin typeface="Arial"/>
                <a:ea typeface="Arial"/>
                <a:cs typeface="Arial"/>
              </a:rPr>
              <a:t>Fly IDs 1, 6 and 39 are absent from the pulse-derived results.</a:t>
            </a:r>
          </a:p>
        </p:txBody>
      </p:sp>
      <p:sp>
        <p:nvSpPr>
          <p:cNvPr id="9" name="">
            <a:extLst xmlns:a="http://schemas.openxmlformats.org/drawingml/2006/main">
              <a:ext uri="{FF2B5EF4-FFF2-40B4-BE49-F238E27FC236}">
                <a16:creationId xmlns:a16="http://schemas.microsoft.com/office/drawing/2014/main" id="{465C0857-BA52-412C-8C73-E667BB435D70}"/>
              </a:ext>
            </a:extLst>
          </p:cNvPr>
          <p:cNvSpPr>
            <a:spLocks xmlns:a="http://schemas.openxmlformats.org/drawingml/2006/main" noGrp="1"/>
          </p:cNvSpPr>
          <p:nvPr/>
        </p:nvSpPr>
        <p:spPr>
          <a:xfrm xmlns:a="http://schemas.openxmlformats.org/drawingml/2006/main">
            <a:off x="609600" y="6019800"/>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86776"/>
                </a:solidFill>
                <a:latin typeface="Arial"/>
                <a:ea typeface="Arial"/>
                <a:cs typeface="Arial"/>
              </a:defRPr>
            </a:defPPr>
          </a:lstStyle>
          <a:p xmlns:a="http://schemas.openxmlformats.org/drawingml/2006/main">
            <a:pPr>
              <a:defRPr sz="1425" b="0">
                <a:solidFill>
                  <a:srgbClr val="586776"/>
                </a:solidFill>
                <a:latin typeface="Arial"/>
                <a:ea typeface="Arial"/>
                <a:cs typeface="Arial"/>
              </a:defRPr>
            </a:pPr>
            <a:r>
              <a:rPr sz="1425" b="0">
                <a:solidFill>
                  <a:srgbClr val="586776"/>
                </a:solidFill>
                <a:latin typeface="Arial"/>
                <a:ea typeface="Arial"/>
                <a:cs typeface="Arial"/>
              </a:rPr>
              <a:t>All available pulse records remain in the analysis. No outlier removal or imputation.</a:t>
            </a:r>
          </a:p>
        </p:txBody>
      </p:sp>
    </p:spTree>
    <p:extLst>
      <p:ext uri="{BB962C8B-B14F-4D97-AF65-F5344CB8AC3E}">
        <p14:creationId xmlns:p14="http://schemas.microsoft.com/office/powerpoint/2010/main" val="112174122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B4CFDB6-6452-4B52-AA96-3C2BA6CC5205}"/>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OBSERVED EXAMPLES</a:t>
            </a:r>
          </a:p>
        </p:txBody>
      </p:sp>
      <p:sp>
        <p:nvSpPr>
          <p:cNvPr id="2" name="">
            <a:extLst xmlns:a="http://schemas.openxmlformats.org/drawingml/2006/main">
              <a:ext uri="{FF2B5EF4-FFF2-40B4-BE49-F238E27FC236}">
                <a16:creationId xmlns:a16="http://schemas.microsoft.com/office/drawing/2014/main" id="{5D56DD9E-E813-4283-A3E8-D0ED5B09B02F}"/>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Example paths show variable responses</a:t>
            </a:r>
          </a:p>
        </p:txBody>
      </p:sp>
      <p:sp>
        <p:nvSpPr>
          <p:cNvPr id="3" name="">
            <a:extLst xmlns:a="http://schemas.openxmlformats.org/drawingml/2006/main">
              <a:ext uri="{FF2B5EF4-FFF2-40B4-BE49-F238E27FC236}">
                <a16:creationId xmlns:a16="http://schemas.microsoft.com/office/drawing/2014/main" id="{599EBCE0-F338-4649-92C9-41CCFC63B189}"/>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Source-labeled examples, each with 80 aligned stimulation events</a:t>
            </a:r>
          </a:p>
        </p:txBody>
      </p:sp>
      <p:sp>
        <p:nvSpPr>
          <p:cNvPr id="4" name="">
            <a:extLst xmlns:a="http://schemas.openxmlformats.org/drawingml/2006/main">
              <a:ext uri="{FF2B5EF4-FFF2-40B4-BE49-F238E27FC236}">
                <a16:creationId xmlns:a16="http://schemas.microsoft.com/office/drawing/2014/main" id="{1458C10A-607B-46CA-8470-D215612C8CC7}"/>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CD69DFD7-385B-4BE3-8A06-C3D3F578DD07}"/>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S3, slide 22. Original figures with source arbitrary units. Fly IDs are unavailable.</a:t>
            </a:r>
          </a:p>
        </p:txBody>
      </p:sp>
      <p:sp>
        <p:nvSpPr>
          <p:cNvPr id="6" name="">
            <a:extLst xmlns:a="http://schemas.openxmlformats.org/drawingml/2006/main">
              <a:ext uri="{FF2B5EF4-FFF2-40B4-BE49-F238E27FC236}">
                <a16:creationId xmlns:a16="http://schemas.microsoft.com/office/drawing/2014/main" id="{400CEDAD-A90F-4A68-A1B6-5E80F78176BD}"/>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04</a:t>
            </a:r>
          </a:p>
        </p:txBody>
      </p:sp>
      <p:sp>
        <p:nvSpPr>
          <p:cNvPr id="7" name="">
            <a:extLst xmlns:a="http://schemas.openxmlformats.org/drawingml/2006/main">
              <a:ext uri="{FF2B5EF4-FFF2-40B4-BE49-F238E27FC236}">
                <a16:creationId xmlns:a16="http://schemas.microsoft.com/office/drawing/2014/main" id="{7796695A-DBCE-4FA7-B3D5-C43D1DE7E66E}"/>
              </a:ext>
            </a:extLst>
          </p:cNvPr>
          <p:cNvSpPr>
            <a:spLocks xmlns:a="http://schemas.openxmlformats.org/drawingml/2006/main" noGrp="1"/>
          </p:cNvSpPr>
          <p:nvPr/>
        </p:nvSpPr>
        <p:spPr>
          <a:xfrm xmlns:a="http://schemas.openxmlformats.org/drawingml/2006/main">
            <a:off x="628650" y="180975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B85F35"/>
                </a:solidFill>
                <a:latin typeface="Arial"/>
                <a:ea typeface="Arial"/>
                <a:cs typeface="Arial"/>
              </a:defRPr>
            </a:defPPr>
          </a:lstStyle>
          <a:p xmlns:a="http://schemas.openxmlformats.org/drawingml/2006/main">
            <a:pPr>
              <a:defRPr sz="2025" b="1">
                <a:solidFill>
                  <a:srgbClr val="B85F35"/>
                </a:solidFill>
                <a:latin typeface="Arial"/>
                <a:ea typeface="Arial"/>
                <a:cs typeface="Arial"/>
              </a:defRPr>
            </a:pPr>
            <a:r>
              <a:rPr sz="2025" b="1">
                <a:solidFill>
                  <a:srgbClr val="B85F35"/>
                </a:solidFill>
                <a:latin typeface="Arial"/>
                <a:ea typeface="Arial"/>
                <a:cs typeface="Arial"/>
              </a:rPr>
              <a:t>VES041 × csChrimson</a:t>
            </a:r>
          </a:p>
        </p:txBody>
      </p:sp>
      <p:sp>
        <p:nvSpPr>
          <p:cNvPr id="8" name="">
            <a:extLst xmlns:a="http://schemas.openxmlformats.org/drawingml/2006/main">
              <a:ext uri="{FF2B5EF4-FFF2-40B4-BE49-F238E27FC236}">
                <a16:creationId xmlns:a16="http://schemas.microsoft.com/office/drawing/2014/main" id="{8EDE59BD-10A2-404F-8197-914C733BBCA4}"/>
              </a:ext>
            </a:extLst>
          </p:cNvPr>
          <p:cNvSpPr>
            <a:spLocks xmlns:a="http://schemas.openxmlformats.org/drawingml/2006/main" noGrp="1"/>
          </p:cNvSpPr>
          <p:nvPr/>
        </p:nvSpPr>
        <p:spPr>
          <a:xfrm xmlns:a="http://schemas.openxmlformats.org/drawingml/2006/main">
            <a:off x="6315075" y="1809750"/>
            <a:ext cx="5295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586776"/>
                </a:solidFill>
                <a:latin typeface="Arial"/>
                <a:ea typeface="Arial"/>
                <a:cs typeface="Arial"/>
              </a:defRPr>
            </a:defPPr>
          </a:lstStyle>
          <a:p xmlns:a="http://schemas.openxmlformats.org/drawingml/2006/main">
            <a:pPr>
              <a:defRPr sz="2025" b="1">
                <a:solidFill>
                  <a:srgbClr val="586776"/>
                </a:solidFill>
                <a:latin typeface="Arial"/>
                <a:ea typeface="Arial"/>
                <a:cs typeface="Arial"/>
              </a:defRPr>
            </a:pPr>
            <a:r>
              <a:rPr sz="2025" b="1">
                <a:solidFill>
                  <a:srgbClr val="586776"/>
                </a:solidFill>
                <a:latin typeface="Arial"/>
                <a:ea typeface="Arial"/>
                <a:cs typeface="Arial"/>
              </a:rPr>
              <a:t>Empty-split × csChrimson</a:t>
            </a:r>
          </a:p>
        </p:txBody>
      </p:sp>
      <p:pic>
        <p:nvPicPr>
          <p:cNvPr id="9" name="">
            <a:extLst xmlns:a="http://schemas.openxmlformats.org/drawingml/2006/main">
              <a:ext uri="{FF2B5EF4-FFF2-40B4-BE49-F238E27FC236}">
                <a16:creationId xmlns:a16="http://schemas.microsoft.com/office/drawing/2014/main" id="{02D52958-6C2A-4CEE-928A-933219DD42BF}"/>
              </a:ext>
            </a:extLst>
          </p:cNvPr>
          <p:cNvPicPr>
            <a:picLocks xmlns:a="http://schemas.openxmlformats.org/drawingml/2006/main" noChangeAspect="1"/>
          </p:cNvPicPr>
          <p:nvPr/>
        </p:nvPicPr>
        <p:blipFill>
          <a:blip xmlns:r="http://schemas.openxmlformats.org/officeDocument/2006/relationships" xmlns:a="http://schemas.openxmlformats.org/drawingml/2006/main" r:embed="Rf2667209eb1e404c"/>
          <a:stretch xmlns:a="http://schemas.openxmlformats.org/drawingml/2006/main"/>
        </p:blipFill>
        <p:spPr>
          <a:xfrm xmlns:a="http://schemas.openxmlformats.org/drawingml/2006/main">
            <a:off x="594556" y="2266950"/>
            <a:ext cx="5297413" cy="3971925"/>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B950EBF5-7F55-4CFC-AA4C-754AC8AD33E4}"/>
              </a:ext>
            </a:extLst>
          </p:cNvPr>
          <p:cNvPicPr>
            <a:picLocks xmlns:a="http://schemas.openxmlformats.org/drawingml/2006/main" noChangeAspect="1"/>
          </p:cNvPicPr>
          <p:nvPr/>
        </p:nvPicPr>
        <p:blipFill>
          <a:blip xmlns:r="http://schemas.openxmlformats.org/officeDocument/2006/relationships" xmlns:a="http://schemas.openxmlformats.org/drawingml/2006/main" r:embed="Rb01074756cda45a4"/>
          <a:stretch xmlns:a="http://schemas.openxmlformats.org/drawingml/2006/main"/>
        </p:blipFill>
        <p:spPr>
          <a:xfrm xmlns:a="http://schemas.openxmlformats.org/drawingml/2006/main">
            <a:off x="6300031" y="2266950"/>
            <a:ext cx="5297413" cy="3971925"/>
          </a:xfrm>
          <a:prstGeom xmlns:a="http://schemas.openxmlformats.org/drawingml/2006/main" prst="rect">
            <a:avLst/>
          </a:prstGeom>
        </p:spPr>
      </p:pic>
    </p:spTree>
    <p:extLst>
      <p:ext uri="{BB962C8B-B14F-4D97-AF65-F5344CB8AC3E}">
        <p14:creationId xmlns:p14="http://schemas.microsoft.com/office/powerpoint/2010/main" val="98063335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1A87EA9-1CD2-401B-8769-7E0FA72E6B00}"/>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PULSE-DERIVED RESULTS</a:t>
            </a:r>
          </a:p>
        </p:txBody>
      </p:sp>
      <p:sp>
        <p:nvSpPr>
          <p:cNvPr id="2" name="">
            <a:extLst xmlns:a="http://schemas.openxmlformats.org/drawingml/2006/main">
              <a:ext uri="{FF2B5EF4-FFF2-40B4-BE49-F238E27FC236}">
                <a16:creationId xmlns:a16="http://schemas.microsoft.com/office/drawing/2014/main" id="{B9764561-0069-4585-89F3-E0FB359E67F8}"/>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Activation increases absolute heading change</a:t>
            </a:r>
          </a:p>
        </p:txBody>
      </p:sp>
      <p:sp>
        <p:nvSpPr>
          <p:cNvPr id="3" name="">
            <a:extLst xmlns:a="http://schemas.openxmlformats.org/drawingml/2006/main">
              <a:ext uri="{FF2B5EF4-FFF2-40B4-BE49-F238E27FC236}">
                <a16:creationId xmlns:a16="http://schemas.microsoft.com/office/drawing/2014/main" id="{B32BC9B2-688A-4D7D-B5AA-7F1C5F01A724}"/>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Mean within-fly increase: 38.7° in line 1 and 24.7° in line 2</a:t>
            </a:r>
          </a:p>
        </p:txBody>
      </p:sp>
      <p:sp>
        <p:nvSpPr>
          <p:cNvPr id="4" name="">
            <a:extLst xmlns:a="http://schemas.openxmlformats.org/drawingml/2006/main">
              <a:ext uri="{FF2B5EF4-FFF2-40B4-BE49-F238E27FC236}">
                <a16:creationId xmlns:a16="http://schemas.microsoft.com/office/drawing/2014/main" id="{26BCF9C7-A7C9-4074-B78C-E8AEFF9B2D5D}"/>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26DC10CC-85E8-4167-80FC-08EBC6A7F101}"/>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S2. During minus preceding 1 s. Points: flies; diamonds: means; bars: 95% fly-bootstrap CIs.</a:t>
            </a:r>
          </a:p>
        </p:txBody>
      </p:sp>
      <p:sp>
        <p:nvSpPr>
          <p:cNvPr id="6" name="">
            <a:extLst xmlns:a="http://schemas.openxmlformats.org/drawingml/2006/main">
              <a:ext uri="{FF2B5EF4-FFF2-40B4-BE49-F238E27FC236}">
                <a16:creationId xmlns:a16="http://schemas.microsoft.com/office/drawing/2014/main" id="{CC9FBEC5-E354-405B-AB78-00A6FB2B95E5}"/>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05</a:t>
            </a:r>
          </a:p>
        </p:txBody>
      </p:sp>
      <p:pic>
        <p:nvPicPr>
          <p:cNvPr id="7" name="">
            <a:extLst xmlns:a="http://schemas.openxmlformats.org/drawingml/2006/main">
              <a:ext uri="{FF2B5EF4-FFF2-40B4-BE49-F238E27FC236}">
                <a16:creationId xmlns:a16="http://schemas.microsoft.com/office/drawing/2014/main" id="{7C8CF269-F42A-4DC8-A2FA-4C72C0317D68}"/>
              </a:ext>
            </a:extLst>
          </p:cNvPr>
          <p:cNvPicPr>
            <a:picLocks xmlns:a="http://schemas.openxmlformats.org/drawingml/2006/main" noChangeAspect="1"/>
          </p:cNvPicPr>
          <p:nvPr/>
        </p:nvPicPr>
        <p:blipFill>
          <a:blip xmlns:r="http://schemas.openxmlformats.org/officeDocument/2006/relationships" xmlns:a="http://schemas.openxmlformats.org/drawingml/2006/main" r:embed="Rb08a203a6ef64185"/>
          <a:stretch xmlns:a="http://schemas.openxmlformats.org/drawingml/2006/main"/>
        </p:blipFill>
        <p:spPr>
          <a:xfrm xmlns:a="http://schemas.openxmlformats.org/drawingml/2006/main">
            <a:off x="924612" y="1819275"/>
            <a:ext cx="10342775" cy="4324350"/>
          </a:xfrm>
          <a:prstGeom xmlns:a="http://schemas.openxmlformats.org/drawingml/2006/main" prst="rect">
            <a:avLst/>
          </a:prstGeom>
        </p:spPr>
      </p:pic>
    </p:spTree>
    <p:extLst>
      <p:ext uri="{BB962C8B-B14F-4D97-AF65-F5344CB8AC3E}">
        <p14:creationId xmlns:p14="http://schemas.microsoft.com/office/powerpoint/2010/main" val="95661734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AB1351B-8AAF-46E1-AB9C-299348F5CFEB}"/>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HEADING FROM A ZERO REFERENCE</a:t>
            </a:r>
          </a:p>
        </p:txBody>
      </p:sp>
      <p:sp>
        <p:nvSpPr>
          <p:cNvPr id="2" name="">
            <a:extLst xmlns:a="http://schemas.openxmlformats.org/drawingml/2006/main">
              <a:ext uri="{FF2B5EF4-FFF2-40B4-BE49-F238E27FC236}">
                <a16:creationId xmlns:a16="http://schemas.microsoft.com/office/drawing/2014/main" id="{6F1E8D96-FF1E-4C03-BDEF-6863FC293AD6}"/>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Absolute heading shift from stimulation onset</a:t>
            </a:r>
          </a:p>
        </p:txBody>
      </p:sp>
      <p:sp>
        <p:nvSpPr>
          <p:cNvPr id="3" name="">
            <a:extLst xmlns:a="http://schemas.openxmlformats.org/drawingml/2006/main">
              <a:ext uri="{FF2B5EF4-FFF2-40B4-BE49-F238E27FC236}">
                <a16:creationId xmlns:a16="http://schemas.microsoft.com/office/drawing/2014/main" id="{6B8EA96B-FCA4-460F-87A4-572B9AD50F6E}"/>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Before = 0° for each fly. After = mean absolute endpoint shift across its 80 pulses.</a:t>
            </a:r>
          </a:p>
        </p:txBody>
      </p:sp>
      <p:sp>
        <p:nvSpPr>
          <p:cNvPr id="4" name="">
            <a:extLst xmlns:a="http://schemas.openxmlformats.org/drawingml/2006/main">
              <a:ext uri="{FF2B5EF4-FFF2-40B4-BE49-F238E27FC236}">
                <a16:creationId xmlns:a16="http://schemas.microsoft.com/office/drawing/2014/main" id="{ADFECBAD-41EB-496F-A38D-EF787D7D32D6}"/>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5929549C-DF58-4625-8163-9253F571BB60}"/>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S2. Onset defines 0°. Endpoint: last sample in the first 1 s of light. Horizontal offsets separate flies.</a:t>
            </a:r>
          </a:p>
        </p:txBody>
      </p:sp>
      <p:sp>
        <p:nvSpPr>
          <p:cNvPr id="6" name="">
            <a:extLst xmlns:a="http://schemas.openxmlformats.org/drawingml/2006/main">
              <a:ext uri="{FF2B5EF4-FFF2-40B4-BE49-F238E27FC236}">
                <a16:creationId xmlns:a16="http://schemas.microsoft.com/office/drawing/2014/main" id="{03043145-3B75-4DF7-B700-78CADC76EAB6}"/>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06</a:t>
            </a:r>
          </a:p>
        </p:txBody>
      </p:sp>
      <p:pic>
        <p:nvPicPr>
          <p:cNvPr id="7" name="">
            <a:extLst xmlns:a="http://schemas.openxmlformats.org/drawingml/2006/main">
              <a:ext uri="{FF2B5EF4-FFF2-40B4-BE49-F238E27FC236}">
                <a16:creationId xmlns:a16="http://schemas.microsoft.com/office/drawing/2014/main" id="{49860899-3A61-4A80-B6EF-3EF46128B71A}"/>
              </a:ext>
            </a:extLst>
          </p:cNvPr>
          <p:cNvPicPr>
            <a:picLocks xmlns:a="http://schemas.openxmlformats.org/drawingml/2006/main" noChangeAspect="1"/>
          </p:cNvPicPr>
          <p:nvPr/>
        </p:nvPicPr>
        <p:blipFill>
          <a:blip xmlns:r="http://schemas.openxmlformats.org/officeDocument/2006/relationships" xmlns:a="http://schemas.openxmlformats.org/drawingml/2006/main" r:embed="R174a614c62af4389"/>
          <a:stretch xmlns:a="http://schemas.openxmlformats.org/drawingml/2006/main"/>
        </p:blipFill>
        <p:spPr>
          <a:xfrm xmlns:a="http://schemas.openxmlformats.org/drawingml/2006/main">
            <a:off x="1254943" y="1752600"/>
            <a:ext cx="9682113" cy="40481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4F15185-C924-41FC-B8CB-3D0707C0CE8B}"/>
              </a:ext>
            </a:extLst>
          </p:cNvPr>
          <p:cNvSpPr>
            <a:spLocks xmlns:a="http://schemas.openxmlformats.org/drawingml/2006/main" noGrp="1"/>
          </p:cNvSpPr>
          <p:nvPr/>
        </p:nvSpPr>
        <p:spPr>
          <a:xfrm xmlns:a="http://schemas.openxmlformats.org/drawingml/2006/main">
            <a:off x="619125" y="59626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82B3A"/>
                </a:solidFill>
                <a:latin typeface="Arial"/>
                <a:ea typeface="Arial"/>
                <a:cs typeface="Arial"/>
              </a:defRPr>
            </a:defPPr>
          </a:lstStyle>
          <a:p xmlns:a="http://schemas.openxmlformats.org/drawingml/2006/main">
            <a:pPr>
              <a:defRPr sz="1650" b="1">
                <a:solidFill>
                  <a:srgbClr val="182B3A"/>
                </a:solidFill>
                <a:latin typeface="Arial"/>
                <a:ea typeface="Arial"/>
                <a:cs typeface="Arial"/>
              </a:defRPr>
            </a:pPr>
            <a:r>
              <a:rPr sz="1650" b="1">
                <a:solidFill>
                  <a:srgbClr val="182B3A"/>
                </a:solidFill>
                <a:latin typeface="Arial"/>
                <a:ea typeface="Arial"/>
                <a:cs typeface="Arial"/>
              </a:rPr>
              <a:t>Negative pulse shifts are reflected above 0° before averaging within each fly.</a:t>
            </a:r>
          </a:p>
        </p:txBody>
      </p:sp>
    </p:spTree>
    <p:extLst>
      <p:ext uri="{BB962C8B-B14F-4D97-AF65-F5344CB8AC3E}">
        <p14:creationId xmlns:p14="http://schemas.microsoft.com/office/powerpoint/2010/main" val="17555022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2EB0E7E-5D3D-46E0-AD76-3D204ED0098A}"/>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PULSE-DERIVED RESULTS</a:t>
            </a:r>
          </a:p>
        </p:txBody>
      </p:sp>
      <p:sp>
        <p:nvSpPr>
          <p:cNvPr id="2" name="">
            <a:extLst xmlns:a="http://schemas.openxmlformats.org/drawingml/2006/main">
              <a:ext uri="{FF2B5EF4-FFF2-40B4-BE49-F238E27FC236}">
                <a16:creationId xmlns:a16="http://schemas.microsoft.com/office/drawing/2014/main" id="{C3797741-5416-4004-8977-8C4C4C474D4B}"/>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Rotational speed increases in both split lines</a:t>
            </a:r>
          </a:p>
        </p:txBody>
      </p:sp>
      <p:sp>
        <p:nvSpPr>
          <p:cNvPr id="3" name="">
            <a:extLst xmlns:a="http://schemas.openxmlformats.org/drawingml/2006/main">
              <a:ext uri="{FF2B5EF4-FFF2-40B4-BE49-F238E27FC236}">
                <a16:creationId xmlns:a16="http://schemas.microsoft.com/office/drawing/2014/main" id="{CB36C73D-EB1E-42AF-9419-6ECD4FA7BC25}"/>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Mean change: +43.2 deg/s in line 1 and +30.0 deg/s in line 2</a:t>
            </a:r>
          </a:p>
        </p:txBody>
      </p:sp>
      <p:sp>
        <p:nvSpPr>
          <p:cNvPr id="4" name="">
            <a:extLst xmlns:a="http://schemas.openxmlformats.org/drawingml/2006/main">
              <a:ext uri="{FF2B5EF4-FFF2-40B4-BE49-F238E27FC236}">
                <a16:creationId xmlns:a16="http://schemas.microsoft.com/office/drawing/2014/main" id="{B9569778-612B-4932-AA9C-8BB54F582BB1}"/>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2B57A70D-7D8D-4327-9247-BB14F40439D0}"/>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S2. Points: flies; diamonds: means; bars: 95% fly-bootstrap CIs. Uses archived smoothed angular velocity.</a:t>
            </a:r>
          </a:p>
        </p:txBody>
      </p:sp>
      <p:sp>
        <p:nvSpPr>
          <p:cNvPr id="6" name="">
            <a:extLst xmlns:a="http://schemas.openxmlformats.org/drawingml/2006/main">
              <a:ext uri="{FF2B5EF4-FFF2-40B4-BE49-F238E27FC236}">
                <a16:creationId xmlns:a16="http://schemas.microsoft.com/office/drawing/2014/main" id="{5837A54B-EFB3-4925-B945-87FF1244406E}"/>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07</a:t>
            </a:r>
          </a:p>
        </p:txBody>
      </p:sp>
      <p:pic>
        <p:nvPicPr>
          <p:cNvPr id="7" name="">
            <a:extLst xmlns:a="http://schemas.openxmlformats.org/drawingml/2006/main">
              <a:ext uri="{FF2B5EF4-FFF2-40B4-BE49-F238E27FC236}">
                <a16:creationId xmlns:a16="http://schemas.microsoft.com/office/drawing/2014/main" id="{724D8ADB-92DF-4780-988F-3596BA071EBF}"/>
              </a:ext>
            </a:extLst>
          </p:cNvPr>
          <p:cNvPicPr>
            <a:picLocks xmlns:a="http://schemas.openxmlformats.org/drawingml/2006/main" noChangeAspect="1"/>
          </p:cNvPicPr>
          <p:nvPr/>
        </p:nvPicPr>
        <p:blipFill>
          <a:blip xmlns:r="http://schemas.openxmlformats.org/officeDocument/2006/relationships" xmlns:a="http://schemas.openxmlformats.org/drawingml/2006/main" r:embed="R5b68ab910b874242"/>
          <a:stretch xmlns:a="http://schemas.openxmlformats.org/drawingml/2006/main"/>
        </p:blipFill>
        <p:spPr>
          <a:xfrm xmlns:a="http://schemas.openxmlformats.org/drawingml/2006/main">
            <a:off x="924612" y="1819275"/>
            <a:ext cx="10342775" cy="4324350"/>
          </a:xfrm>
          <a:prstGeom xmlns:a="http://schemas.openxmlformats.org/drawingml/2006/main" prst="rect">
            <a:avLst/>
          </a:prstGeom>
        </p:spPr>
      </p:pic>
    </p:spTree>
    <p:extLst>
      <p:ext uri="{BB962C8B-B14F-4D97-AF65-F5344CB8AC3E}">
        <p14:creationId xmlns:p14="http://schemas.microsoft.com/office/powerpoint/2010/main" val="59421494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ECE3C7C-698F-4427-A491-66C762B8A848}"/>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PULSE-DERIVED RESULTS</a:t>
            </a:r>
          </a:p>
        </p:txBody>
      </p:sp>
      <p:sp>
        <p:nvSpPr>
          <p:cNvPr id="2" name="">
            <a:extLst xmlns:a="http://schemas.openxmlformats.org/drawingml/2006/main">
              <a:ext uri="{FF2B5EF4-FFF2-40B4-BE49-F238E27FC236}">
                <a16:creationId xmlns:a16="http://schemas.microsoft.com/office/drawing/2014/main" id="{BFAA54DA-3F5F-412C-8C00-7DA160F05A57}"/>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All-pulse averages do not establish slowing</a:t>
            </a:r>
          </a:p>
        </p:txBody>
      </p:sp>
      <p:sp>
        <p:nvSpPr>
          <p:cNvPr id="3" name="">
            <a:extLst xmlns:a="http://schemas.openxmlformats.org/drawingml/2006/main">
              <a:ext uri="{FF2B5EF4-FFF2-40B4-BE49-F238E27FC236}">
                <a16:creationId xmlns:a16="http://schemas.microsoft.com/office/drawing/2014/main" id="{AFD190A6-8C58-4003-9E3B-A99384F92AC5}"/>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Mean forward-velocity change: +0.20 mm/s in line 1 and +0.08 mm/s in line 2</a:t>
            </a:r>
          </a:p>
        </p:txBody>
      </p:sp>
      <p:sp>
        <p:nvSpPr>
          <p:cNvPr id="4" name="">
            <a:extLst xmlns:a="http://schemas.openxmlformats.org/drawingml/2006/main">
              <a:ext uri="{FF2B5EF4-FFF2-40B4-BE49-F238E27FC236}">
                <a16:creationId xmlns:a16="http://schemas.microsoft.com/office/drawing/2014/main" id="{A84689C3-3119-49DB-A348-45A732316CD1}"/>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D1874054-7874-47A5-AED0-FD93F184985C}"/>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S2. All four forward-speed genotype contrasts have BH q ≥ 0.078. Points: flies; bars: 95% fly-bootstrap CIs.</a:t>
            </a:r>
          </a:p>
        </p:txBody>
      </p:sp>
      <p:sp>
        <p:nvSpPr>
          <p:cNvPr id="6" name="">
            <a:extLst xmlns:a="http://schemas.openxmlformats.org/drawingml/2006/main">
              <a:ext uri="{FF2B5EF4-FFF2-40B4-BE49-F238E27FC236}">
                <a16:creationId xmlns:a16="http://schemas.microsoft.com/office/drawing/2014/main" id="{BD93AC84-4886-4A17-937E-111D43331794}"/>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08</a:t>
            </a:r>
          </a:p>
        </p:txBody>
      </p:sp>
      <p:pic>
        <p:nvPicPr>
          <p:cNvPr id="7" name="">
            <a:extLst xmlns:a="http://schemas.openxmlformats.org/drawingml/2006/main">
              <a:ext uri="{FF2B5EF4-FFF2-40B4-BE49-F238E27FC236}">
                <a16:creationId xmlns:a16="http://schemas.microsoft.com/office/drawing/2014/main" id="{4A59477F-8B3B-4422-873B-C72A2644FEE9}"/>
              </a:ext>
            </a:extLst>
          </p:cNvPr>
          <p:cNvPicPr>
            <a:picLocks xmlns:a="http://schemas.openxmlformats.org/drawingml/2006/main" noChangeAspect="1"/>
          </p:cNvPicPr>
          <p:nvPr/>
        </p:nvPicPr>
        <p:blipFill>
          <a:blip xmlns:r="http://schemas.openxmlformats.org/officeDocument/2006/relationships" xmlns:a="http://schemas.openxmlformats.org/drawingml/2006/main" r:embed="Rd2ebc03dcb2f4c5c"/>
          <a:stretch xmlns:a="http://schemas.openxmlformats.org/drawingml/2006/main"/>
        </p:blipFill>
        <p:spPr>
          <a:xfrm xmlns:a="http://schemas.openxmlformats.org/drawingml/2006/main">
            <a:off x="924612" y="1819275"/>
            <a:ext cx="10342775" cy="4324350"/>
          </a:xfrm>
          <a:prstGeom xmlns:a="http://schemas.openxmlformats.org/drawingml/2006/main" prst="rect">
            <a:avLst/>
          </a:prstGeom>
        </p:spPr>
      </p:pic>
    </p:spTree>
    <p:extLst>
      <p:ext uri="{BB962C8B-B14F-4D97-AF65-F5344CB8AC3E}">
        <p14:creationId xmlns:p14="http://schemas.microsoft.com/office/powerpoint/2010/main" val="173566607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4E5AD11-45D7-40C2-A9F9-64399ECCBD82}"/>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CONTROL COMPARISONS</a:t>
            </a:r>
          </a:p>
        </p:txBody>
      </p:sp>
      <p:sp>
        <p:nvSpPr>
          <p:cNvPr id="2" name="">
            <a:extLst xmlns:a="http://schemas.openxmlformats.org/drawingml/2006/main">
              <a:ext uri="{FF2B5EF4-FFF2-40B4-BE49-F238E27FC236}">
                <a16:creationId xmlns:a16="http://schemas.microsoft.com/office/drawing/2014/main" id="{7BC6C829-83E5-48FA-BFB4-77EA7C4A3B87}"/>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Turning effects exceed both control comparisons</a:t>
            </a:r>
          </a:p>
        </p:txBody>
      </p:sp>
      <p:sp>
        <p:nvSpPr>
          <p:cNvPr id="3" name="">
            <a:extLst xmlns:a="http://schemas.openxmlformats.org/drawingml/2006/main">
              <a:ext uri="{FF2B5EF4-FFF2-40B4-BE49-F238E27FC236}">
                <a16:creationId xmlns:a16="http://schemas.microsoft.com/office/drawing/2014/main" id="{7479D1EA-A6FD-4CAF-9327-1713D0B75597}"/>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Differences in within-fly changes, with 95% bootstrap confidence intervals</a:t>
            </a:r>
          </a:p>
        </p:txBody>
      </p:sp>
      <p:sp>
        <p:nvSpPr>
          <p:cNvPr id="4" name="">
            <a:extLst xmlns:a="http://schemas.openxmlformats.org/drawingml/2006/main">
              <a:ext uri="{FF2B5EF4-FFF2-40B4-BE49-F238E27FC236}">
                <a16:creationId xmlns:a16="http://schemas.microsoft.com/office/drawing/2014/main" id="{4DF261EC-C070-443B-B9D5-F450921D261C}"/>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262FC840-B068-44A6-A896-5DE4B399F7A7}"/>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S2. Exploratory two-sided fly-label permutation tests; all eight turning contrasts have BH q &lt; 0.001.</a:t>
            </a:r>
          </a:p>
        </p:txBody>
      </p:sp>
      <p:sp>
        <p:nvSpPr>
          <p:cNvPr id="6" name="">
            <a:extLst xmlns:a="http://schemas.openxmlformats.org/drawingml/2006/main">
              <a:ext uri="{FF2B5EF4-FFF2-40B4-BE49-F238E27FC236}">
                <a16:creationId xmlns:a16="http://schemas.microsoft.com/office/drawing/2014/main" id="{790C71C0-E6B0-4AEE-885D-6ED25F89C86D}"/>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09</a:t>
            </a:r>
          </a:p>
        </p:txBody>
      </p:sp>
      <p:pic>
        <p:nvPicPr>
          <p:cNvPr id="7" name="">
            <a:extLst xmlns:a="http://schemas.openxmlformats.org/drawingml/2006/main">
              <a:ext uri="{FF2B5EF4-FFF2-40B4-BE49-F238E27FC236}">
                <a16:creationId xmlns:a16="http://schemas.microsoft.com/office/drawing/2014/main" id="{1FF7DB08-38C2-45A4-9ABC-0D7714BF33D7}"/>
              </a:ext>
            </a:extLst>
          </p:cNvPr>
          <p:cNvPicPr>
            <a:picLocks xmlns:a="http://schemas.openxmlformats.org/drawingml/2006/main" noChangeAspect="1"/>
          </p:cNvPicPr>
          <p:nvPr/>
        </p:nvPicPr>
        <p:blipFill>
          <a:blip xmlns:r="http://schemas.openxmlformats.org/officeDocument/2006/relationships" xmlns:a="http://schemas.openxmlformats.org/drawingml/2006/main" r:embed="Red2992dc572f447b"/>
          <a:stretch xmlns:a="http://schemas.openxmlformats.org/drawingml/2006/main"/>
        </p:blipFill>
        <p:spPr>
          <a:xfrm xmlns:a="http://schemas.openxmlformats.org/drawingml/2006/main">
            <a:off x="1206230" y="2000250"/>
            <a:ext cx="9779540" cy="3962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639FEB4-2475-403C-B565-3587848A65C0}"/>
              </a:ext>
            </a:extLst>
          </p:cNvPr>
          <p:cNvSpPr>
            <a:spLocks xmlns:a="http://schemas.openxmlformats.org/drawingml/2006/main" noGrp="1"/>
          </p:cNvSpPr>
          <p:nvPr/>
        </p:nvSpPr>
        <p:spPr>
          <a:xfrm xmlns:a="http://schemas.openxmlformats.org/drawingml/2006/main">
            <a:off x="571500" y="5991225"/>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82B3A"/>
                </a:solidFill>
                <a:latin typeface="Arial"/>
                <a:ea typeface="Arial"/>
                <a:cs typeface="Arial"/>
              </a:defRPr>
            </a:defPPr>
          </a:lstStyle>
          <a:p xmlns:a="http://schemas.openxmlformats.org/drawingml/2006/main">
            <a:pPr>
              <a:defRPr sz="1650" b="1">
                <a:solidFill>
                  <a:srgbClr val="182B3A"/>
                </a:solidFill>
                <a:latin typeface="Arial"/>
                <a:ea typeface="Arial"/>
                <a:cs typeface="Arial"/>
              </a:defRPr>
            </a:pPr>
            <a:r>
              <a:rPr sz="1650" b="1">
                <a:solidFill>
                  <a:srgbClr val="182B3A"/>
                </a:solidFill>
                <a:latin typeface="Arial"/>
                <a:ea typeface="Arial"/>
                <a:cs typeface="Arial"/>
              </a:rPr>
              <a:t>Matched GFP and empty-split controls give the same direction of effect.</a:t>
            </a:r>
          </a:p>
        </p:txBody>
      </p:sp>
    </p:spTree>
    <p:extLst>
      <p:ext uri="{BB962C8B-B14F-4D97-AF65-F5344CB8AC3E}">
        <p14:creationId xmlns:p14="http://schemas.microsoft.com/office/powerpoint/2010/main" val="132112846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7E8FDCD-570D-4943-BA1A-32E3EA93BB8C}"/>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PULSE SELECTION</a:t>
            </a:r>
          </a:p>
        </p:txBody>
      </p:sp>
      <p:sp>
        <p:nvSpPr>
          <p:cNvPr id="2" name="">
            <a:extLst xmlns:a="http://schemas.openxmlformats.org/drawingml/2006/main">
              <a:ext uri="{FF2B5EF4-FFF2-40B4-BE49-F238E27FC236}">
                <a16:creationId xmlns:a16="http://schemas.microsoft.com/office/drawing/2014/main" id="{331D653B-8B04-434E-95BD-F543A0EAD7B6}"/>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Baseline walking changes the speed estimate</a:t>
            </a:r>
          </a:p>
        </p:txBody>
      </p:sp>
      <p:sp>
        <p:nvSpPr>
          <p:cNvPr id="3" name="">
            <a:extLst xmlns:a="http://schemas.openxmlformats.org/drawingml/2006/main">
              <a:ext uri="{FF2B5EF4-FFF2-40B4-BE49-F238E27FC236}">
                <a16:creationId xmlns:a16="http://schemas.microsoft.com/office/drawing/2014/main" id="{E3DFDE9A-C56C-4476-AB72-9D7983DCA874}"/>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The existing 3 mm/s cutoff retains 2,140 of 6,480 pulses; all 81 flies contribute</a:t>
            </a:r>
          </a:p>
        </p:txBody>
      </p:sp>
      <p:sp>
        <p:nvSpPr>
          <p:cNvPr id="4" name="">
            <a:extLst xmlns:a="http://schemas.openxmlformats.org/drawingml/2006/main">
              <a:ext uri="{FF2B5EF4-FFF2-40B4-BE49-F238E27FC236}">
                <a16:creationId xmlns:a16="http://schemas.microsoft.com/office/drawing/2014/main" id="{582FD0A2-4ACD-4D14-9FD6-08ED9203D571}"/>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3077DAC0-9380-4151-ADB6-89DFDA1A8F97}"/>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S2, S8, S10. Descriptive sensitivity analysis. Controls also slow after selection. Bars: 95% fly-bootstrap CIs.</a:t>
            </a:r>
          </a:p>
        </p:txBody>
      </p:sp>
      <p:sp>
        <p:nvSpPr>
          <p:cNvPr id="6" name="">
            <a:extLst xmlns:a="http://schemas.openxmlformats.org/drawingml/2006/main">
              <a:ext uri="{FF2B5EF4-FFF2-40B4-BE49-F238E27FC236}">
                <a16:creationId xmlns:a16="http://schemas.microsoft.com/office/drawing/2014/main" id="{D74B7336-433E-40A5-B21D-7E40A6CE1123}"/>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10</a:t>
            </a:r>
          </a:p>
        </p:txBody>
      </p:sp>
      <p:pic>
        <p:nvPicPr>
          <p:cNvPr id="7" name="">
            <a:extLst xmlns:a="http://schemas.openxmlformats.org/drawingml/2006/main">
              <a:ext uri="{FF2B5EF4-FFF2-40B4-BE49-F238E27FC236}">
                <a16:creationId xmlns:a16="http://schemas.microsoft.com/office/drawing/2014/main" id="{685F240D-EAD6-445E-BE40-5D11D57AA1F4}"/>
              </a:ext>
            </a:extLst>
          </p:cNvPr>
          <p:cNvPicPr>
            <a:picLocks xmlns:a="http://schemas.openxmlformats.org/drawingml/2006/main" noChangeAspect="1"/>
          </p:cNvPicPr>
          <p:nvPr/>
        </p:nvPicPr>
        <p:blipFill>
          <a:blip xmlns:r="http://schemas.openxmlformats.org/officeDocument/2006/relationships" xmlns:a="http://schemas.openxmlformats.org/drawingml/2006/main" r:embed="R338593fbfa4b488f"/>
          <a:stretch xmlns:a="http://schemas.openxmlformats.org/drawingml/2006/main"/>
        </p:blipFill>
        <p:spPr>
          <a:xfrm xmlns:a="http://schemas.openxmlformats.org/drawingml/2006/main">
            <a:off x="947394" y="1866900"/>
            <a:ext cx="10297212" cy="4305300"/>
          </a:xfrm>
          <a:prstGeom xmlns:a="http://schemas.openxmlformats.org/drawingml/2006/main" prst="rect">
            <a:avLst/>
          </a:prstGeom>
        </p:spPr>
      </p:pic>
    </p:spTree>
    <p:extLst>
      <p:ext uri="{BB962C8B-B14F-4D97-AF65-F5344CB8AC3E}">
        <p14:creationId xmlns:p14="http://schemas.microsoft.com/office/powerpoint/2010/main" val="36320088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C999F84-0C4A-4855-974E-523C406A7348}"/>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ARCHIVED SUMMARY</a:t>
            </a:r>
          </a:p>
        </p:txBody>
      </p:sp>
      <p:sp>
        <p:nvSpPr>
          <p:cNvPr id="2" name="">
            <a:extLst xmlns:a="http://schemas.openxmlformats.org/drawingml/2006/main">
              <a:ext uri="{FF2B5EF4-FFF2-40B4-BE49-F238E27FC236}">
                <a16:creationId xmlns:a16="http://schemas.microsoft.com/office/drawing/2014/main" id="{1B5D6B12-5F89-4830-9BC2-BB26399C8415}"/>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The archived summaries show slowing and turning</a:t>
            </a:r>
          </a:p>
        </p:txBody>
      </p:sp>
      <p:sp>
        <p:nvSpPr>
          <p:cNvPr id="3" name="">
            <a:extLst xmlns:a="http://schemas.openxmlformats.org/drawingml/2006/main">
              <a:ext uri="{FF2B5EF4-FFF2-40B4-BE49-F238E27FC236}">
                <a16:creationId xmlns:a16="http://schemas.microsoft.com/office/drawing/2014/main" id="{15833BED-1EB4-447F-967C-1301E5262DA6}"/>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84 flies, reproduced directly from the local summary table</a:t>
            </a:r>
          </a:p>
        </p:txBody>
      </p:sp>
      <p:sp>
        <p:nvSpPr>
          <p:cNvPr id="4" name="">
            <a:extLst xmlns:a="http://schemas.openxmlformats.org/drawingml/2006/main">
              <a:ext uri="{FF2B5EF4-FFF2-40B4-BE49-F238E27FC236}">
                <a16:creationId xmlns:a16="http://schemas.microsoft.com/office/drawing/2014/main" id="{3CAD3FB7-F6CF-473F-953E-BC3D454D34EE}"/>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921902DA-13A0-4E42-B0D4-7E3CA2E97CFE}"/>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S1. Points: archived fly values; diamonds: means. Pulse-selection metadata is absent, so these values are kept separate.</a:t>
            </a:r>
          </a:p>
        </p:txBody>
      </p:sp>
      <p:sp>
        <p:nvSpPr>
          <p:cNvPr id="6" name="">
            <a:extLst xmlns:a="http://schemas.openxmlformats.org/drawingml/2006/main">
              <a:ext uri="{FF2B5EF4-FFF2-40B4-BE49-F238E27FC236}">
                <a16:creationId xmlns:a16="http://schemas.microsoft.com/office/drawing/2014/main" id="{2548043D-E06E-4B4E-B158-72B147AABF12}"/>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11</a:t>
            </a:r>
          </a:p>
        </p:txBody>
      </p:sp>
      <p:pic>
        <p:nvPicPr>
          <p:cNvPr id="7" name="">
            <a:extLst xmlns:a="http://schemas.openxmlformats.org/drawingml/2006/main">
              <a:ext uri="{FF2B5EF4-FFF2-40B4-BE49-F238E27FC236}">
                <a16:creationId xmlns:a16="http://schemas.microsoft.com/office/drawing/2014/main" id="{B12A665B-562F-45FB-99B2-711825F0FFEC}"/>
              </a:ext>
            </a:extLst>
          </p:cNvPr>
          <p:cNvPicPr>
            <a:picLocks xmlns:a="http://schemas.openxmlformats.org/drawingml/2006/main" noChangeAspect="1"/>
          </p:cNvPicPr>
          <p:nvPr/>
        </p:nvPicPr>
        <p:blipFill>
          <a:blip xmlns:r="http://schemas.openxmlformats.org/officeDocument/2006/relationships" xmlns:a="http://schemas.openxmlformats.org/drawingml/2006/main" r:embed="Rb8183c0a26114516"/>
          <a:stretch xmlns:a="http://schemas.openxmlformats.org/drawingml/2006/main"/>
        </p:blipFill>
        <p:spPr>
          <a:xfrm xmlns:a="http://schemas.openxmlformats.org/drawingml/2006/main">
            <a:off x="924612" y="1819275"/>
            <a:ext cx="10342775" cy="4324350"/>
          </a:xfrm>
          <a:prstGeom xmlns:a="http://schemas.openxmlformats.org/drawingml/2006/main" prst="rect">
            <a:avLst/>
          </a:prstGeom>
        </p:spPr>
      </p:pic>
    </p:spTree>
    <p:extLst>
      <p:ext uri="{BB962C8B-B14F-4D97-AF65-F5344CB8AC3E}">
        <p14:creationId xmlns:p14="http://schemas.microsoft.com/office/powerpoint/2010/main" val="193707630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292364E-086D-4F3E-9B5F-D7201C1FC228}"/>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JOINT RESPONSE</a:t>
            </a:r>
          </a:p>
        </p:txBody>
      </p:sp>
      <p:sp>
        <p:nvSpPr>
          <p:cNvPr id="2" name="">
            <a:extLst xmlns:a="http://schemas.openxmlformats.org/drawingml/2006/main">
              <a:ext uri="{FF2B5EF4-FFF2-40B4-BE49-F238E27FC236}">
                <a16:creationId xmlns:a16="http://schemas.microsoft.com/office/drawing/2014/main" id="{83397324-2E66-4AE4-8B6E-F71A10816944}"/>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Reorientation spans different forward-speed changes</a:t>
            </a:r>
          </a:p>
        </p:txBody>
      </p:sp>
      <p:sp>
        <p:nvSpPr>
          <p:cNvPr id="3" name="">
            <a:extLst xmlns:a="http://schemas.openxmlformats.org/drawingml/2006/main">
              <a:ext uri="{FF2B5EF4-FFF2-40B4-BE49-F238E27FC236}">
                <a16:creationId xmlns:a16="http://schemas.microsoft.com/office/drawing/2014/main" id="{5EAEF5D3-E73A-46FD-A2F7-BFCB72318B3D}"/>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Each point is one fly, averaged across its 80 stimuli</a:t>
            </a:r>
          </a:p>
        </p:txBody>
      </p:sp>
      <p:sp>
        <p:nvSpPr>
          <p:cNvPr id="4" name="">
            <a:extLst xmlns:a="http://schemas.openxmlformats.org/drawingml/2006/main">
              <a:ext uri="{FF2B5EF4-FFF2-40B4-BE49-F238E27FC236}">
                <a16:creationId xmlns:a16="http://schemas.microsoft.com/office/drawing/2014/main" id="{23193A6D-8B3D-497D-981C-70742BA4B224}"/>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C559B1EA-26F3-4779-84D1-8AFCB9E9C0D4}"/>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S2. All pulses; no correlation model or responder cutoff is imposed.</a:t>
            </a:r>
          </a:p>
        </p:txBody>
      </p:sp>
      <p:sp>
        <p:nvSpPr>
          <p:cNvPr id="6" name="">
            <a:extLst xmlns:a="http://schemas.openxmlformats.org/drawingml/2006/main">
              <a:ext uri="{FF2B5EF4-FFF2-40B4-BE49-F238E27FC236}">
                <a16:creationId xmlns:a16="http://schemas.microsoft.com/office/drawing/2014/main" id="{18FF1E2B-4546-4892-B6CE-2196C71C637C}"/>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12</a:t>
            </a:r>
          </a:p>
        </p:txBody>
      </p:sp>
      <p:pic>
        <p:nvPicPr>
          <p:cNvPr id="7" name="">
            <a:extLst xmlns:a="http://schemas.openxmlformats.org/drawingml/2006/main">
              <a:ext uri="{FF2B5EF4-FFF2-40B4-BE49-F238E27FC236}">
                <a16:creationId xmlns:a16="http://schemas.microsoft.com/office/drawing/2014/main" id="{1FCA1E06-EF45-4304-8588-EC92CAEE08E4}"/>
              </a:ext>
            </a:extLst>
          </p:cNvPr>
          <p:cNvPicPr>
            <a:picLocks xmlns:a="http://schemas.openxmlformats.org/drawingml/2006/main" noChangeAspect="1"/>
          </p:cNvPicPr>
          <p:nvPr/>
        </p:nvPicPr>
        <p:blipFill>
          <a:blip xmlns:r="http://schemas.openxmlformats.org/officeDocument/2006/relationships" xmlns:a="http://schemas.openxmlformats.org/drawingml/2006/main" r:embed="R7c556f6efbbc4708"/>
          <a:stretch xmlns:a="http://schemas.openxmlformats.org/drawingml/2006/main"/>
        </p:blipFill>
        <p:spPr>
          <a:xfrm xmlns:a="http://schemas.openxmlformats.org/drawingml/2006/main">
            <a:off x="924612" y="1819275"/>
            <a:ext cx="10342775" cy="4324350"/>
          </a:xfrm>
          <a:prstGeom xmlns:a="http://schemas.openxmlformats.org/drawingml/2006/main" prst="rect">
            <a:avLst/>
          </a:prstGeom>
        </p:spPr>
      </p:pic>
    </p:spTree>
    <p:extLst>
      <p:ext uri="{BB962C8B-B14F-4D97-AF65-F5344CB8AC3E}">
        <p14:creationId xmlns:p14="http://schemas.microsoft.com/office/powerpoint/2010/main" val="99540882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1C4BA4A-4E57-4B96-996E-18F4AB08F46C}"/>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OPERATIONAL PIVOT DEFINITION</a:t>
            </a:r>
          </a:p>
        </p:txBody>
      </p:sp>
      <p:sp>
        <p:nvSpPr>
          <p:cNvPr id="2" name="">
            <a:extLst xmlns:a="http://schemas.openxmlformats.org/drawingml/2006/main">
              <a:ext uri="{FF2B5EF4-FFF2-40B4-BE49-F238E27FC236}">
                <a16:creationId xmlns:a16="http://schemas.microsoft.com/office/drawing/2014/main" id="{98A3990D-4B5B-4402-9DA9-7F511967AA79}"/>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Pivot-like events increase under activation</a:t>
            </a:r>
          </a:p>
        </p:txBody>
      </p:sp>
      <p:sp>
        <p:nvSpPr>
          <p:cNvPr id="3" name="">
            <a:extLst xmlns:a="http://schemas.openxmlformats.org/drawingml/2006/main">
              <a:ext uri="{FF2B5EF4-FFF2-40B4-BE49-F238E27FC236}">
                <a16:creationId xmlns:a16="http://schemas.microsoft.com/office/drawing/2014/main" id="{E3BE5758-E30F-480E-B446-CE8BDB842FFF}"/>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A strict joint definition combines turning, translation and directionality</a:t>
            </a:r>
          </a:p>
        </p:txBody>
      </p:sp>
      <p:sp>
        <p:nvSpPr>
          <p:cNvPr id="4" name="">
            <a:extLst xmlns:a="http://schemas.openxmlformats.org/drawingml/2006/main">
              <a:ext uri="{FF2B5EF4-FFF2-40B4-BE49-F238E27FC236}">
                <a16:creationId xmlns:a16="http://schemas.microsoft.com/office/drawing/2014/main" id="{FF0AC9AF-FB47-4284-8918-93324FEFC515}"/>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055990ED-931A-4A7D-8AD3-4FA39F9EE9E6}"/>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S2, S7. Pooled means give each fly equal weight. Per-genotype fly values appear in the appendix.</a:t>
            </a:r>
          </a:p>
        </p:txBody>
      </p:sp>
      <p:sp>
        <p:nvSpPr>
          <p:cNvPr id="6" name="">
            <a:extLst xmlns:a="http://schemas.openxmlformats.org/drawingml/2006/main">
              <a:ext uri="{FF2B5EF4-FFF2-40B4-BE49-F238E27FC236}">
                <a16:creationId xmlns:a16="http://schemas.microsoft.com/office/drawing/2014/main" id="{901AEA97-EC5B-4F3F-8DED-F1BD13CAC1F6}"/>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13</a:t>
            </a:r>
          </a:p>
        </p:txBody>
      </p:sp>
      <p:graphicFrame>
        <p:nvGraphicFramePr>
          <p:cNvPr id="7" name="Chart">
            <a:extLst xmlns:a="http://schemas.openxmlformats.org/drawingml/2006/main">
              <a:ext uri="{FF2B5EF4-FFF2-40B4-BE49-F238E27FC236}">
                <a16:creationId xmlns:a16="http://schemas.microsoft.com/office/drawing/2014/main" id="{85970F7B-CE80-48A7-BAC6-6FD0FC41B86A}"/>
              </a:ext>
            </a:extLst>
          </p:cNvPr>
          <p:cNvGraphicFramePr/>
          <p:nvPr/>
        </p:nvGraphicFramePr>
        <p:xfrm>
          <a:off xmlns:a="http://schemas.openxmlformats.org/drawingml/2006/main" x="571500" y="2076450"/>
          <a:ext xmlns:a="http://schemas.openxmlformats.org/drawingml/2006/main" cx="6286500" cy="3838575"/>
        </p:xfrm>
        <a:graphic xmlns:a="http://schemas.openxmlformats.org/drawingml/2006/main">
          <a:graphicData uri="http://schemas.openxmlformats.org/drawingml/2006/chart">
            <c:chart xmlns:r="http://schemas.openxmlformats.org/officeDocument/2006/relationships" xmlns:c="http://schemas.openxmlformats.org/drawingml/2006/chart" r:id="R5d3951e0f3fe46be"/>
          </a:graphicData>
        </a:graphic>
      </p:graphicFrame>
      <p:sp>
        <p:nvSpPr>
          <p:cNvPr id="8" name="">
            <a:extLst xmlns:a="http://schemas.openxmlformats.org/drawingml/2006/main">
              <a:ext uri="{FF2B5EF4-FFF2-40B4-BE49-F238E27FC236}">
                <a16:creationId xmlns:a16="http://schemas.microsoft.com/office/drawing/2014/main" id="{241D7C2B-97FC-43F9-A910-E5B4BF2BECF4}"/>
              </a:ext>
            </a:extLst>
          </p:cNvPr>
          <p:cNvSpPr>
            <a:spLocks xmlns:a="http://schemas.openxmlformats.org/drawingml/2006/main" noGrp="1"/>
          </p:cNvSpPr>
          <p:nvPr/>
        </p:nvSpPr>
        <p:spPr>
          <a:xfrm xmlns:a="http://schemas.openxmlformats.org/drawingml/2006/main">
            <a:off x="7486650" y="2038350"/>
            <a:ext cx="4076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82B3A"/>
                </a:solidFill>
                <a:latin typeface="Arial"/>
                <a:ea typeface="Arial"/>
                <a:cs typeface="Arial"/>
              </a:defRPr>
            </a:defPPr>
          </a:lstStyle>
          <a:p xmlns:a="http://schemas.openxmlformats.org/drawingml/2006/main">
            <a:pPr>
              <a:defRPr sz="2025" b="1">
                <a:solidFill>
                  <a:srgbClr val="182B3A"/>
                </a:solidFill>
                <a:latin typeface="Arial"/>
                <a:ea typeface="Arial"/>
                <a:cs typeface="Arial"/>
              </a:defRPr>
            </a:pPr>
            <a:r>
              <a:rPr sz="2025" b="1">
                <a:solidFill>
                  <a:srgbClr val="182B3A"/>
                </a:solidFill>
                <a:latin typeface="Arial"/>
                <a:ea typeface="Arial"/>
                <a:cs typeface="Arial"/>
              </a:rPr>
              <a:t>Within the first second</a:t>
            </a:r>
          </a:p>
        </p:txBody>
      </p:sp>
      <p:sp>
        <p:nvSpPr>
          <p:cNvPr id="9" name="">
            <a:extLst xmlns:a="http://schemas.openxmlformats.org/drawingml/2006/main">
              <a:ext uri="{FF2B5EF4-FFF2-40B4-BE49-F238E27FC236}">
                <a16:creationId xmlns:a16="http://schemas.microsoft.com/office/drawing/2014/main" id="{1B1F35D6-3E35-42D1-9462-0E1A690339AF}"/>
              </a:ext>
            </a:extLst>
          </p:cNvPr>
          <p:cNvSpPr>
            <a:spLocks xmlns:a="http://schemas.openxmlformats.org/drawingml/2006/main" noGrp="1"/>
          </p:cNvSpPr>
          <p:nvPr/>
        </p:nvSpPr>
        <p:spPr>
          <a:xfrm xmlns:a="http://schemas.openxmlformats.org/drawingml/2006/main">
            <a:off x="7486650" y="2657475"/>
            <a:ext cx="404812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82B3A"/>
                </a:solidFill>
                <a:latin typeface="Arial"/>
                <a:ea typeface="Arial"/>
                <a:cs typeface="Arial"/>
              </a:defRPr>
            </a:defPPr>
          </a:lstStyle>
          <a:p xmlns:a="http://schemas.openxmlformats.org/drawingml/2006/main">
            <a:pPr>
              <a:defRPr sz="1875" b="0">
                <a:solidFill>
                  <a:srgbClr val="182B3A"/>
                </a:solidFill>
                <a:latin typeface="Arial"/>
                <a:ea typeface="Arial"/>
                <a:cs typeface="Arial"/>
              </a:defRPr>
            </a:pPr>
            <a:r>
              <a:rPr sz="1875" b="0">
                <a:solidFill>
                  <a:srgbClr val="182B3A"/>
                </a:solidFill>
                <a:latin typeface="Arial"/>
                <a:ea typeface="Arial"/>
                <a:cs typeface="Arial"/>
              </a:rPr>
              <a:t>Absolute net turn ≥ 45°</a:t>
            </a:r>
          </a:p>
          <a:p xmlns:a="http://schemas.openxmlformats.org/drawingml/2006/main">
            <a:pPr>
              <a:defRPr sz="1875" b="0">
                <a:solidFill>
                  <a:srgbClr val="182B3A"/>
                </a:solidFill>
                <a:latin typeface="Arial"/>
                <a:ea typeface="Arial"/>
                <a:cs typeface="Arial"/>
              </a:defRPr>
            </a:pPr>
            <a:r>
              <a:rPr sz="1875" b="0">
                <a:solidFill>
                  <a:srgbClr val="182B3A"/>
                </a:solidFill>
                <a:latin typeface="Arial"/>
                <a:ea typeface="Arial"/>
                <a:cs typeface="Arial"/>
              </a:rPr>
              <a:t>Net displacement ≤ 2 mm</a:t>
            </a:r>
          </a:p>
          <a:p xmlns:a="http://schemas.openxmlformats.org/drawingml/2006/main">
            <a:pPr>
              <a:defRPr sz="1875" b="0">
                <a:solidFill>
                  <a:srgbClr val="182B3A"/>
                </a:solidFill>
                <a:latin typeface="Arial"/>
                <a:ea typeface="Arial"/>
                <a:cs typeface="Arial"/>
              </a:defRPr>
            </a:pPr>
            <a:r>
              <a:rPr sz="1875" b="0">
                <a:solidFill>
                  <a:srgbClr val="182B3A"/>
                </a:solidFill>
                <a:latin typeface="Arial"/>
                <a:ea typeface="Arial"/>
                <a:cs typeface="Arial"/>
              </a:rPr>
              <a:t>Turn directionality ≥ 0.7</a:t>
            </a:r>
          </a:p>
        </p:txBody>
      </p:sp>
      <p:sp>
        <p:nvSpPr>
          <p:cNvPr id="10" name="">
            <a:extLst xmlns:a="http://schemas.openxmlformats.org/drawingml/2006/main">
              <a:ext uri="{FF2B5EF4-FFF2-40B4-BE49-F238E27FC236}">
                <a16:creationId xmlns:a16="http://schemas.microsoft.com/office/drawing/2014/main" id="{F68AB476-745A-4D78-81F6-281652DF3705}"/>
              </a:ext>
            </a:extLst>
          </p:cNvPr>
          <p:cNvSpPr>
            <a:spLocks xmlns:a="http://schemas.openxmlformats.org/drawingml/2006/main" noGrp="1"/>
          </p:cNvSpPr>
          <p:nvPr/>
        </p:nvSpPr>
        <p:spPr>
          <a:xfrm xmlns:a="http://schemas.openxmlformats.org/drawingml/2006/main">
            <a:off x="7486650" y="4371975"/>
            <a:ext cx="3971925"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11" name="">
            <a:extLst xmlns:a="http://schemas.openxmlformats.org/drawingml/2006/main">
              <a:ext uri="{FF2B5EF4-FFF2-40B4-BE49-F238E27FC236}">
                <a16:creationId xmlns:a16="http://schemas.microsoft.com/office/drawing/2014/main" id="{28DCC236-1357-4B49-BF61-A90136488DF5}"/>
              </a:ext>
            </a:extLst>
          </p:cNvPr>
          <p:cNvSpPr>
            <a:spLocks xmlns:a="http://schemas.openxmlformats.org/drawingml/2006/main" noGrp="1"/>
          </p:cNvSpPr>
          <p:nvPr/>
        </p:nvSpPr>
        <p:spPr>
          <a:xfrm xmlns:a="http://schemas.openxmlformats.org/drawingml/2006/main">
            <a:off x="7486650" y="4648200"/>
            <a:ext cx="4048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B85F35"/>
                </a:solidFill>
                <a:latin typeface="Arial"/>
                <a:ea typeface="Arial"/>
                <a:cs typeface="Arial"/>
              </a:defRPr>
            </a:defPPr>
          </a:lstStyle>
          <a:p xmlns:a="http://schemas.openxmlformats.org/drawingml/2006/main">
            <a:pPr>
              <a:defRPr sz="2175" b="1">
                <a:solidFill>
                  <a:srgbClr val="B85F35"/>
                </a:solidFill>
                <a:latin typeface="Arial"/>
                <a:ea typeface="Arial"/>
                <a:cs typeface="Arial"/>
              </a:defRPr>
            </a:pPr>
            <a:r>
              <a:rPr sz="2175" b="1">
                <a:solidFill>
                  <a:srgbClr val="B85F35"/>
                </a:solidFill>
                <a:latin typeface="Arial"/>
                <a:ea typeface="Arial"/>
                <a:cs typeface="Arial"/>
              </a:rPr>
              <a:t>+2.98 percentage points</a:t>
            </a:r>
          </a:p>
        </p:txBody>
      </p:sp>
      <p:sp>
        <p:nvSpPr>
          <p:cNvPr id="12" name="">
            <a:extLst xmlns:a="http://schemas.openxmlformats.org/drawingml/2006/main">
              <a:ext uri="{FF2B5EF4-FFF2-40B4-BE49-F238E27FC236}">
                <a16:creationId xmlns:a16="http://schemas.microsoft.com/office/drawing/2014/main" id="{4AC8D0DE-A0B2-40C8-84BB-21F0BE7B0890}"/>
              </a:ext>
            </a:extLst>
          </p:cNvPr>
          <p:cNvSpPr>
            <a:spLocks xmlns:a="http://schemas.openxmlformats.org/drawingml/2006/main" noGrp="1"/>
          </p:cNvSpPr>
          <p:nvPr/>
        </p:nvSpPr>
        <p:spPr>
          <a:xfrm xmlns:a="http://schemas.openxmlformats.org/drawingml/2006/main">
            <a:off x="7486650" y="5210175"/>
            <a:ext cx="4048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86776"/>
                </a:solidFill>
                <a:latin typeface="Arial"/>
                <a:ea typeface="Arial"/>
                <a:cs typeface="Arial"/>
              </a:defRPr>
            </a:defPPr>
          </a:lstStyle>
          <a:p xmlns:a="http://schemas.openxmlformats.org/drawingml/2006/main">
            <a:pPr>
              <a:defRPr sz="1575" b="0">
                <a:solidFill>
                  <a:srgbClr val="586776"/>
                </a:solidFill>
                <a:latin typeface="Arial"/>
                <a:ea typeface="Arial"/>
                <a:cs typeface="Arial"/>
              </a:defRPr>
            </a:pPr>
            <a:r>
              <a:rPr sz="1575" b="0">
                <a:solidFill>
                  <a:srgbClr val="586776"/>
                </a:solidFill>
                <a:latin typeface="Arial"/>
                <a:ea typeface="Arial"/>
                <a:cs typeface="Arial"/>
              </a:rPr>
              <a:t>Activation-minus-control difference</a:t>
            </a:r>
          </a:p>
          <a:p xmlns:a="http://schemas.openxmlformats.org/drawingml/2006/main">
            <a:pPr>
              <a:defRPr sz="1575" b="0">
                <a:solidFill>
                  <a:srgbClr val="586776"/>
                </a:solidFill>
                <a:latin typeface="Arial"/>
                <a:ea typeface="Arial"/>
                <a:cs typeface="Arial"/>
              </a:defRPr>
            </a:pPr>
            <a:r>
              <a:rPr sz="1575" b="0">
                <a:solidFill>
                  <a:srgbClr val="586776"/>
                </a:solidFill>
                <a:latin typeface="Arial"/>
                <a:ea typeface="Arial"/>
                <a:cs typeface="Arial"/>
              </a:rPr>
              <a:t>in the pre-to-during change</a:t>
            </a:r>
          </a:p>
          <a:p xmlns:a="http://schemas.openxmlformats.org/drawingml/2006/main">
            <a:pPr>
              <a:defRPr sz="1575" b="0">
                <a:solidFill>
                  <a:srgbClr val="586776"/>
                </a:solidFill>
                <a:latin typeface="Arial"/>
                <a:ea typeface="Arial"/>
                <a:cs typeface="Arial"/>
              </a:defRPr>
            </a:pPr>
            <a:r>
              <a:rPr sz="1575" b="0">
                <a:solidFill>
                  <a:srgbClr val="586776"/>
                </a:solidFill>
                <a:latin typeface="Arial"/>
                <a:ea typeface="Arial"/>
                <a:cs typeface="Arial"/>
              </a:rPr>
              <a:t>Saved permutation p = 0.00019</a:t>
            </a:r>
          </a:p>
        </p:txBody>
      </p:sp>
    </p:spTree>
    <p:extLst>
      <p:ext uri="{BB962C8B-B14F-4D97-AF65-F5344CB8AC3E}">
        <p14:creationId xmlns:p14="http://schemas.microsoft.com/office/powerpoint/2010/main" val="51578129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14E8E0B-A750-4629-A994-57768AB89FFC}"/>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THRESHOLD SENSITIVITY</a:t>
            </a:r>
          </a:p>
        </p:txBody>
      </p:sp>
      <p:sp>
        <p:nvSpPr>
          <p:cNvPr id="2" name="">
            <a:extLst xmlns:a="http://schemas.openxmlformats.org/drawingml/2006/main">
              <a:ext uri="{FF2B5EF4-FFF2-40B4-BE49-F238E27FC236}">
                <a16:creationId xmlns:a16="http://schemas.microsoft.com/office/drawing/2014/main" id="{F564892D-1DD4-49A0-8FFC-C4494A93E3CB}"/>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The pivot effect depends on the chosen thresholds</a:t>
            </a:r>
          </a:p>
        </p:txBody>
      </p:sp>
      <p:sp>
        <p:nvSpPr>
          <p:cNvPr id="3" name="">
            <a:extLst xmlns:a="http://schemas.openxmlformats.org/drawingml/2006/main">
              <a:ext uri="{FF2B5EF4-FFF2-40B4-BE49-F238E27FC236}">
                <a16:creationId xmlns:a16="http://schemas.microsoft.com/office/drawing/2014/main" id="{E39BA581-DEE3-463A-A0D8-221915D0EFB8}"/>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Activation-minus-control difference in pre-to-during pivot-rate change</a:t>
            </a:r>
          </a:p>
        </p:txBody>
      </p:sp>
      <p:sp>
        <p:nvSpPr>
          <p:cNvPr id="4" name="">
            <a:extLst xmlns:a="http://schemas.openxmlformats.org/drawingml/2006/main">
              <a:ext uri="{FF2B5EF4-FFF2-40B4-BE49-F238E27FC236}">
                <a16:creationId xmlns:a16="http://schemas.microsoft.com/office/drawing/2014/main" id="{F444BB65-B3C6-4285-81AE-26BF5CD17001}"/>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E0C45274-FA28-49D0-9324-F6C906A505FF}"/>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S2. Descriptive sensitivity; directionality remains ≥ 0.7. Positive values occur at all nine tested settings.</a:t>
            </a:r>
          </a:p>
        </p:txBody>
      </p:sp>
      <p:sp>
        <p:nvSpPr>
          <p:cNvPr id="6" name="">
            <a:extLst xmlns:a="http://schemas.openxmlformats.org/drawingml/2006/main">
              <a:ext uri="{FF2B5EF4-FFF2-40B4-BE49-F238E27FC236}">
                <a16:creationId xmlns:a16="http://schemas.microsoft.com/office/drawing/2014/main" id="{92A7AD40-3218-41A2-8945-CCDE2A363A7B}"/>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14</a:t>
            </a:r>
          </a:p>
        </p:txBody>
      </p:sp>
      <p:pic>
        <p:nvPicPr>
          <p:cNvPr id="7" name="">
            <a:extLst xmlns:a="http://schemas.openxmlformats.org/drawingml/2006/main">
              <a:ext uri="{FF2B5EF4-FFF2-40B4-BE49-F238E27FC236}">
                <a16:creationId xmlns:a16="http://schemas.microsoft.com/office/drawing/2014/main" id="{C6202729-B6A0-40C1-93A9-32A760D99ACF}"/>
              </a:ext>
            </a:extLst>
          </p:cNvPr>
          <p:cNvPicPr>
            <a:picLocks xmlns:a="http://schemas.openxmlformats.org/drawingml/2006/main" noChangeAspect="1"/>
          </p:cNvPicPr>
          <p:nvPr/>
        </p:nvPicPr>
        <p:blipFill>
          <a:blip xmlns:r="http://schemas.openxmlformats.org/officeDocument/2006/relationships" xmlns:a="http://schemas.openxmlformats.org/drawingml/2006/main" r:embed="R728ffae88f9a446a"/>
          <a:stretch xmlns:a="http://schemas.openxmlformats.org/drawingml/2006/main"/>
        </p:blipFill>
        <p:spPr>
          <a:xfrm xmlns:a="http://schemas.openxmlformats.org/drawingml/2006/main">
            <a:off x="800100" y="1943100"/>
            <a:ext cx="6686550" cy="41148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1FC18B0-A094-489A-9673-BB15B418E7A7}"/>
              </a:ext>
            </a:extLst>
          </p:cNvPr>
          <p:cNvSpPr>
            <a:spLocks xmlns:a="http://schemas.openxmlformats.org/drawingml/2006/main" noGrp="1"/>
          </p:cNvSpPr>
          <p:nvPr/>
        </p:nvSpPr>
        <p:spPr>
          <a:xfrm xmlns:a="http://schemas.openxmlformats.org/drawingml/2006/main">
            <a:off x="8248650" y="2352675"/>
            <a:ext cx="3371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B85F35"/>
                </a:solidFill>
                <a:latin typeface="Arial"/>
                <a:ea typeface="Arial"/>
                <a:cs typeface="Arial"/>
              </a:defRPr>
            </a:defPPr>
          </a:lstStyle>
          <a:p xmlns:a="http://schemas.openxmlformats.org/drawingml/2006/main">
            <a:pPr>
              <a:defRPr sz="2700" b="1">
                <a:solidFill>
                  <a:srgbClr val="B85F35"/>
                </a:solidFill>
                <a:latin typeface="Arial"/>
                <a:ea typeface="Arial"/>
                <a:cs typeface="Arial"/>
              </a:defRPr>
            </a:pPr>
            <a:r>
              <a:rPr sz="2700" b="1">
                <a:solidFill>
                  <a:srgbClr val="B85F35"/>
                </a:solidFill>
                <a:latin typeface="Arial"/>
                <a:ea typeface="Arial"/>
                <a:cs typeface="Arial"/>
              </a:rPr>
              <a:t>0.28 to 8.44 pp</a:t>
            </a:r>
          </a:p>
        </p:txBody>
      </p:sp>
      <p:sp>
        <p:nvSpPr>
          <p:cNvPr id="9" name="">
            <a:extLst xmlns:a="http://schemas.openxmlformats.org/drawingml/2006/main">
              <a:ext uri="{FF2B5EF4-FFF2-40B4-BE49-F238E27FC236}">
                <a16:creationId xmlns:a16="http://schemas.microsoft.com/office/drawing/2014/main" id="{406E28F3-9298-48D8-9685-C53106482F54}"/>
              </a:ext>
            </a:extLst>
          </p:cNvPr>
          <p:cNvSpPr>
            <a:spLocks xmlns:a="http://schemas.openxmlformats.org/drawingml/2006/main" noGrp="1"/>
          </p:cNvSpPr>
          <p:nvPr/>
        </p:nvSpPr>
        <p:spPr>
          <a:xfrm xmlns:a="http://schemas.openxmlformats.org/drawingml/2006/main">
            <a:off x="8267700" y="3114675"/>
            <a:ext cx="3276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776"/>
                </a:solidFill>
                <a:latin typeface="Arial"/>
                <a:ea typeface="Arial"/>
                <a:cs typeface="Arial"/>
              </a:defRPr>
            </a:defPPr>
          </a:lstStyle>
          <a:p xmlns:a="http://schemas.openxmlformats.org/drawingml/2006/main">
            <a:pPr>
              <a:defRPr sz="1800" b="0">
                <a:solidFill>
                  <a:srgbClr val="586776"/>
                </a:solidFill>
                <a:latin typeface="Arial"/>
                <a:ea typeface="Arial"/>
                <a:cs typeface="Arial"/>
              </a:defRPr>
            </a:pPr>
            <a:r>
              <a:rPr sz="1800" b="0">
                <a:solidFill>
                  <a:srgbClr val="586776"/>
                </a:solidFill>
                <a:latin typeface="Arial"/>
                <a:ea typeface="Arial"/>
                <a:cs typeface="Arial"/>
              </a:rPr>
              <a:t>Range across the tested</a:t>
            </a:r>
          </a:p>
          <a:p xmlns:a="http://schemas.openxmlformats.org/drawingml/2006/main">
            <a:pPr>
              <a:defRPr sz="1800" b="0">
                <a:solidFill>
                  <a:srgbClr val="586776"/>
                </a:solidFill>
                <a:latin typeface="Arial"/>
                <a:ea typeface="Arial"/>
                <a:cs typeface="Arial"/>
              </a:defRPr>
            </a:pPr>
            <a:r>
              <a:rPr sz="1800" b="0">
                <a:solidFill>
                  <a:srgbClr val="586776"/>
                </a:solidFill>
                <a:latin typeface="Arial"/>
                <a:ea typeface="Arial"/>
                <a:cs typeface="Arial"/>
              </a:rPr>
              <a:t>turn and displacement cutoffs</a:t>
            </a:r>
          </a:p>
        </p:txBody>
      </p:sp>
      <p:sp>
        <p:nvSpPr>
          <p:cNvPr id="10" name="">
            <a:extLst xmlns:a="http://schemas.openxmlformats.org/drawingml/2006/main">
              <a:ext uri="{FF2B5EF4-FFF2-40B4-BE49-F238E27FC236}">
                <a16:creationId xmlns:a16="http://schemas.microsoft.com/office/drawing/2014/main" id="{9AE3F69E-DEC0-40A8-8FBB-FE5121424BD3}"/>
              </a:ext>
            </a:extLst>
          </p:cNvPr>
          <p:cNvSpPr>
            <a:spLocks xmlns:a="http://schemas.openxmlformats.org/drawingml/2006/main" noGrp="1"/>
          </p:cNvSpPr>
          <p:nvPr/>
        </p:nvSpPr>
        <p:spPr>
          <a:xfrm xmlns:a="http://schemas.openxmlformats.org/drawingml/2006/main">
            <a:off x="8267700" y="4524375"/>
            <a:ext cx="3276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82B3A"/>
                </a:solidFill>
                <a:latin typeface="Arial"/>
                <a:ea typeface="Arial"/>
                <a:cs typeface="Arial"/>
              </a:defRPr>
            </a:defPPr>
          </a:lstStyle>
          <a:p xmlns:a="http://schemas.openxmlformats.org/drawingml/2006/main">
            <a:pPr>
              <a:defRPr sz="1950" b="1">
                <a:solidFill>
                  <a:srgbClr val="182B3A"/>
                </a:solidFill>
                <a:latin typeface="Arial"/>
                <a:ea typeface="Arial"/>
                <a:cs typeface="Arial"/>
              </a:defRPr>
            </a:pPr>
            <a:r>
              <a:rPr sz="1950" b="1">
                <a:solidFill>
                  <a:srgbClr val="182B3A"/>
                </a:solidFill>
                <a:latin typeface="Arial"/>
                <a:ea typeface="Arial"/>
                <a:cs typeface="Arial"/>
              </a:rPr>
              <a:t>Default: 45° and 2 mm</a:t>
            </a:r>
          </a:p>
          <a:p xmlns:a="http://schemas.openxmlformats.org/drawingml/2006/main">
            <a:pPr>
              <a:defRPr sz="1950" b="1">
                <a:solidFill>
                  <a:srgbClr val="182B3A"/>
                </a:solidFill>
                <a:latin typeface="Arial"/>
                <a:ea typeface="Arial"/>
                <a:cs typeface="Arial"/>
              </a:defRPr>
            </a:pPr>
            <a:r>
              <a:rPr sz="1950" b="1">
                <a:solidFill>
                  <a:srgbClr val="182B3A"/>
                </a:solidFill>
                <a:latin typeface="Arial"/>
                <a:ea typeface="Arial"/>
                <a:cs typeface="Arial"/>
              </a:rPr>
              <a:t>Effect: +2.98 pp</a:t>
            </a:r>
          </a:p>
        </p:txBody>
      </p:sp>
    </p:spTree>
    <p:extLst>
      <p:ext uri="{BB962C8B-B14F-4D97-AF65-F5344CB8AC3E}">
        <p14:creationId xmlns:p14="http://schemas.microsoft.com/office/powerpoint/2010/main" val="94443116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B1D47E1-2AE1-423B-9894-F9FB96FD22B0}"/>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STIMULATION ORDER</a:t>
            </a:r>
          </a:p>
        </p:txBody>
      </p:sp>
      <p:sp>
        <p:nvSpPr>
          <p:cNvPr id="2" name="">
            <a:extLst xmlns:a="http://schemas.openxmlformats.org/drawingml/2006/main">
              <a:ext uri="{FF2B5EF4-FFF2-40B4-BE49-F238E27FC236}">
                <a16:creationId xmlns:a16="http://schemas.microsoft.com/office/drawing/2014/main" id="{993C76EE-30BC-463C-A450-BDBE6542893C}"/>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Heading responses across the stimulation sequence</a:t>
            </a:r>
          </a:p>
        </p:txBody>
      </p:sp>
      <p:sp>
        <p:nvSpPr>
          <p:cNvPr id="3" name="">
            <a:extLst xmlns:a="http://schemas.openxmlformats.org/drawingml/2006/main">
              <a:ext uri="{FF2B5EF4-FFF2-40B4-BE49-F238E27FC236}">
                <a16:creationId xmlns:a16="http://schemas.microsoft.com/office/drawing/2014/main" id="{8A69B37D-07E0-4B7F-885C-AEA222A90755}"/>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Consecutive bins of 10 pulses; mean within each fly, then mean across flies</a:t>
            </a:r>
          </a:p>
        </p:txBody>
      </p:sp>
      <p:sp>
        <p:nvSpPr>
          <p:cNvPr id="4" name="">
            <a:extLst xmlns:a="http://schemas.openxmlformats.org/drawingml/2006/main">
              <a:ext uri="{FF2B5EF4-FFF2-40B4-BE49-F238E27FC236}">
                <a16:creationId xmlns:a16="http://schemas.microsoft.com/office/drawing/2014/main" id="{5780109A-617E-490E-ABB6-F38E4FD075D0}"/>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69556B7E-E8CB-4B9A-9AC5-7F065818EB67}"/>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S2. Lines: genotype means; ribbons: pointwise 95% fly-bootstrap CIs. No habituation model is fitted.</a:t>
            </a:r>
          </a:p>
        </p:txBody>
      </p:sp>
      <p:sp>
        <p:nvSpPr>
          <p:cNvPr id="6" name="">
            <a:extLst xmlns:a="http://schemas.openxmlformats.org/drawingml/2006/main">
              <a:ext uri="{FF2B5EF4-FFF2-40B4-BE49-F238E27FC236}">
                <a16:creationId xmlns:a16="http://schemas.microsoft.com/office/drawing/2014/main" id="{2CF55B33-6838-4687-88BA-539FF8C7BF2C}"/>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15</a:t>
            </a:r>
          </a:p>
        </p:txBody>
      </p:sp>
      <p:pic>
        <p:nvPicPr>
          <p:cNvPr id="7" name="">
            <a:extLst xmlns:a="http://schemas.openxmlformats.org/drawingml/2006/main">
              <a:ext uri="{FF2B5EF4-FFF2-40B4-BE49-F238E27FC236}">
                <a16:creationId xmlns:a16="http://schemas.microsoft.com/office/drawing/2014/main" id="{4C4C6831-F687-4891-BE29-36E0AFFB28CB}"/>
              </a:ext>
            </a:extLst>
          </p:cNvPr>
          <p:cNvPicPr>
            <a:picLocks xmlns:a="http://schemas.openxmlformats.org/drawingml/2006/main" noChangeAspect="1"/>
          </p:cNvPicPr>
          <p:nvPr/>
        </p:nvPicPr>
        <p:blipFill>
          <a:blip xmlns:r="http://schemas.openxmlformats.org/officeDocument/2006/relationships" xmlns:a="http://schemas.openxmlformats.org/drawingml/2006/main" r:embed="Rc40847fc3a604092"/>
          <a:stretch xmlns:a="http://schemas.openxmlformats.org/drawingml/2006/main"/>
        </p:blipFill>
        <p:spPr>
          <a:xfrm xmlns:a="http://schemas.openxmlformats.org/drawingml/2006/main">
            <a:off x="924612" y="1819275"/>
            <a:ext cx="10342775" cy="4324350"/>
          </a:xfrm>
          <a:prstGeom xmlns:a="http://schemas.openxmlformats.org/drawingml/2006/main" prst="rect">
            <a:avLst/>
          </a:prstGeom>
        </p:spPr>
      </p:pic>
    </p:spTree>
    <p:extLst>
      <p:ext uri="{BB962C8B-B14F-4D97-AF65-F5344CB8AC3E}">
        <p14:creationId xmlns:p14="http://schemas.microsoft.com/office/powerpoint/2010/main" val="144778134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A107193-7654-44C9-BC5B-34631D4592DF}"/>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INTERPRETATION</a:t>
            </a:r>
          </a:p>
        </p:txBody>
      </p:sp>
      <p:sp>
        <p:nvSpPr>
          <p:cNvPr id="2" name="">
            <a:extLst xmlns:a="http://schemas.openxmlformats.org/drawingml/2006/main">
              <a:ext uri="{FF2B5EF4-FFF2-40B4-BE49-F238E27FC236}">
                <a16:creationId xmlns:a16="http://schemas.microsoft.com/office/drawing/2014/main" id="{A0509E47-5A05-403D-98EA-8874781A1D00}"/>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VES041 activation promotes reorientation</a:t>
            </a:r>
          </a:p>
        </p:txBody>
      </p:sp>
      <p:sp>
        <p:nvSpPr>
          <p:cNvPr id="3" name="">
            <a:extLst xmlns:a="http://schemas.openxmlformats.org/drawingml/2006/main">
              <a:ext uri="{FF2B5EF4-FFF2-40B4-BE49-F238E27FC236}">
                <a16:creationId xmlns:a16="http://schemas.microsoft.com/office/drawing/2014/main" id="{CC96B27B-F8AA-4B27-9DF5-C7D15B0534B0}"/>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The clearest result is increased turning in both split lines</a:t>
            </a:r>
          </a:p>
        </p:txBody>
      </p:sp>
      <p:sp>
        <p:nvSpPr>
          <p:cNvPr id="4" name="">
            <a:extLst xmlns:a="http://schemas.openxmlformats.org/drawingml/2006/main">
              <a:ext uri="{FF2B5EF4-FFF2-40B4-BE49-F238E27FC236}">
                <a16:creationId xmlns:a16="http://schemas.microsoft.com/office/drawing/2014/main" id="{A8ECECFE-8906-4C5D-90E6-39BF1B2CA201}"/>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805FD42B-E151-4AB4-895E-267A0A84917C}"/>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Interpretation of local exported data. Detailed methods, cohort differences and sources follow in the appendix.</a:t>
            </a:r>
          </a:p>
        </p:txBody>
      </p:sp>
      <p:sp>
        <p:nvSpPr>
          <p:cNvPr id="6" name="">
            <a:extLst xmlns:a="http://schemas.openxmlformats.org/drawingml/2006/main">
              <a:ext uri="{FF2B5EF4-FFF2-40B4-BE49-F238E27FC236}">
                <a16:creationId xmlns:a16="http://schemas.microsoft.com/office/drawing/2014/main" id="{EFE4D8EF-79D5-48C9-9BD2-1BC3999918EE}"/>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16</a:t>
            </a:r>
          </a:p>
        </p:txBody>
      </p:sp>
      <p:sp>
        <p:nvSpPr>
          <p:cNvPr id="7" name="">
            <a:extLst xmlns:a="http://schemas.openxmlformats.org/drawingml/2006/main">
              <a:ext uri="{FF2B5EF4-FFF2-40B4-BE49-F238E27FC236}">
                <a16:creationId xmlns:a16="http://schemas.microsoft.com/office/drawing/2014/main" id="{0D6A2774-D721-418C-8EF8-F5D1AB5DE35B}"/>
              </a:ext>
            </a:extLst>
          </p:cNvPr>
          <p:cNvSpPr>
            <a:spLocks xmlns:a="http://schemas.openxmlformats.org/drawingml/2006/main" noGrp="1"/>
          </p:cNvSpPr>
          <p:nvPr/>
        </p:nvSpPr>
        <p:spPr>
          <a:xfrm xmlns:a="http://schemas.openxmlformats.org/drawingml/2006/main">
            <a:off x="619125" y="2057400"/>
            <a:ext cx="2362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B85F35"/>
                </a:solidFill>
                <a:latin typeface="Arial"/>
                <a:ea typeface="Arial"/>
                <a:cs typeface="Arial"/>
              </a:defRPr>
            </a:defPPr>
          </a:lstStyle>
          <a:p xmlns:a="http://schemas.openxmlformats.org/drawingml/2006/main">
            <a:pPr>
              <a:defRPr sz="2400" b="1">
                <a:solidFill>
                  <a:srgbClr val="B85F35"/>
                </a:solidFill>
                <a:latin typeface="Arial"/>
                <a:ea typeface="Arial"/>
                <a:cs typeface="Arial"/>
              </a:defRPr>
            </a:pPr>
            <a:r>
              <a:rPr sz="2400" b="1">
                <a:solidFill>
                  <a:srgbClr val="B85F35"/>
                </a:solidFill>
                <a:latin typeface="Arial"/>
                <a:ea typeface="Arial"/>
                <a:cs typeface="Arial"/>
              </a:rPr>
              <a:t>Turning</a:t>
            </a:r>
          </a:p>
        </p:txBody>
      </p:sp>
      <p:sp>
        <p:nvSpPr>
          <p:cNvPr id="8" name="">
            <a:extLst xmlns:a="http://schemas.openxmlformats.org/drawingml/2006/main">
              <a:ext uri="{FF2B5EF4-FFF2-40B4-BE49-F238E27FC236}">
                <a16:creationId xmlns:a16="http://schemas.microsoft.com/office/drawing/2014/main" id="{D70CF486-E5B1-46F1-9826-70B7904E0692}"/>
              </a:ext>
            </a:extLst>
          </p:cNvPr>
          <p:cNvSpPr>
            <a:spLocks xmlns:a="http://schemas.openxmlformats.org/drawingml/2006/main" noGrp="1"/>
          </p:cNvSpPr>
          <p:nvPr/>
        </p:nvSpPr>
        <p:spPr>
          <a:xfrm xmlns:a="http://schemas.openxmlformats.org/drawingml/2006/main">
            <a:off x="3324225" y="2047875"/>
            <a:ext cx="80105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82B3A"/>
                </a:solidFill>
                <a:latin typeface="Arial"/>
                <a:ea typeface="Arial"/>
                <a:cs typeface="Arial"/>
              </a:defRPr>
            </a:defPPr>
          </a:lstStyle>
          <a:p xmlns:a="http://schemas.openxmlformats.org/drawingml/2006/main">
            <a:pPr>
              <a:defRPr sz="2100" b="0">
                <a:solidFill>
                  <a:srgbClr val="182B3A"/>
                </a:solidFill>
                <a:latin typeface="Arial"/>
                <a:ea typeface="Arial"/>
                <a:cs typeface="Arial"/>
              </a:defRPr>
            </a:pPr>
            <a:r>
              <a:rPr sz="2100" b="0">
                <a:solidFill>
                  <a:srgbClr val="182B3A"/>
                </a:solidFill>
                <a:latin typeface="Arial"/>
                <a:ea typeface="Arial"/>
                <a:cs typeface="Arial"/>
              </a:rPr>
              <a:t>Heading change and rotational speed increase beyond</a:t>
            </a:r>
          </a:p>
          <a:p xmlns:a="http://schemas.openxmlformats.org/drawingml/2006/main">
            <a:pPr>
              <a:defRPr sz="2100" b="0">
                <a:solidFill>
                  <a:srgbClr val="182B3A"/>
                </a:solidFill>
                <a:latin typeface="Arial"/>
                <a:ea typeface="Arial"/>
                <a:cs typeface="Arial"/>
              </a:defRPr>
            </a:pPr>
            <a:r>
              <a:rPr sz="2100" b="0">
                <a:solidFill>
                  <a:srgbClr val="182B3A"/>
                </a:solidFill>
                <a:latin typeface="Arial"/>
                <a:ea typeface="Arial"/>
                <a:cs typeface="Arial"/>
              </a:rPr>
              <a:t>both matched GFP and empty-split controls.</a:t>
            </a:r>
          </a:p>
        </p:txBody>
      </p:sp>
      <p:sp>
        <p:nvSpPr>
          <p:cNvPr id="9" name="">
            <a:extLst xmlns:a="http://schemas.openxmlformats.org/drawingml/2006/main">
              <a:ext uri="{FF2B5EF4-FFF2-40B4-BE49-F238E27FC236}">
                <a16:creationId xmlns:a16="http://schemas.microsoft.com/office/drawing/2014/main" id="{9C60EE21-C94C-4ECF-9A3B-869C0E59969B}"/>
              </a:ext>
            </a:extLst>
          </p:cNvPr>
          <p:cNvSpPr>
            <a:spLocks xmlns:a="http://schemas.openxmlformats.org/drawingml/2006/main" noGrp="1"/>
          </p:cNvSpPr>
          <p:nvPr/>
        </p:nvSpPr>
        <p:spPr>
          <a:xfrm xmlns:a="http://schemas.openxmlformats.org/drawingml/2006/main">
            <a:off x="619125" y="3171825"/>
            <a:ext cx="1091565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10" name="">
            <a:extLst xmlns:a="http://schemas.openxmlformats.org/drawingml/2006/main">
              <a:ext uri="{FF2B5EF4-FFF2-40B4-BE49-F238E27FC236}">
                <a16:creationId xmlns:a16="http://schemas.microsoft.com/office/drawing/2014/main" id="{80EC0780-9563-4634-9FD0-6EDD93C8E6B2}"/>
              </a:ext>
            </a:extLst>
          </p:cNvPr>
          <p:cNvSpPr>
            <a:spLocks xmlns:a="http://schemas.openxmlformats.org/drawingml/2006/main" noGrp="1"/>
          </p:cNvSpPr>
          <p:nvPr/>
        </p:nvSpPr>
        <p:spPr>
          <a:xfrm xmlns:a="http://schemas.openxmlformats.org/drawingml/2006/main">
            <a:off x="619125" y="3486150"/>
            <a:ext cx="247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67D8D"/>
                </a:solidFill>
                <a:latin typeface="Arial"/>
                <a:ea typeface="Arial"/>
                <a:cs typeface="Arial"/>
              </a:defRPr>
            </a:defPPr>
          </a:lstStyle>
          <a:p xmlns:a="http://schemas.openxmlformats.org/drawingml/2006/main">
            <a:pPr>
              <a:defRPr sz="2250" b="1">
                <a:solidFill>
                  <a:srgbClr val="167D8D"/>
                </a:solidFill>
                <a:latin typeface="Arial"/>
                <a:ea typeface="Arial"/>
                <a:cs typeface="Arial"/>
              </a:defRPr>
            </a:pPr>
            <a:r>
              <a:rPr sz="2250" b="1">
                <a:solidFill>
                  <a:srgbClr val="167D8D"/>
                </a:solidFill>
                <a:latin typeface="Arial"/>
                <a:ea typeface="Arial"/>
                <a:cs typeface="Arial"/>
              </a:rPr>
              <a:t>Forward motion</a:t>
            </a:r>
          </a:p>
        </p:txBody>
      </p:sp>
      <p:sp>
        <p:nvSpPr>
          <p:cNvPr id="11" name="">
            <a:extLst xmlns:a="http://schemas.openxmlformats.org/drawingml/2006/main">
              <a:ext uri="{FF2B5EF4-FFF2-40B4-BE49-F238E27FC236}">
                <a16:creationId xmlns:a16="http://schemas.microsoft.com/office/drawing/2014/main" id="{6BCC9030-BF98-404C-B0E5-24C4C567B582}"/>
              </a:ext>
            </a:extLst>
          </p:cNvPr>
          <p:cNvSpPr>
            <a:spLocks xmlns:a="http://schemas.openxmlformats.org/drawingml/2006/main" noGrp="1"/>
          </p:cNvSpPr>
          <p:nvPr/>
        </p:nvSpPr>
        <p:spPr>
          <a:xfrm xmlns:a="http://schemas.openxmlformats.org/drawingml/2006/main">
            <a:off x="3324225" y="3476625"/>
            <a:ext cx="8039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2B3A"/>
                </a:solidFill>
                <a:latin typeface="Arial"/>
                <a:ea typeface="Arial"/>
                <a:cs typeface="Arial"/>
              </a:defRPr>
            </a:defPPr>
          </a:lstStyle>
          <a:p xmlns:a="http://schemas.openxmlformats.org/drawingml/2006/main">
            <a:pPr>
              <a:defRPr sz="2025" b="0">
                <a:solidFill>
                  <a:srgbClr val="182B3A"/>
                </a:solidFill>
                <a:latin typeface="Arial"/>
                <a:ea typeface="Arial"/>
                <a:cs typeface="Arial"/>
              </a:defRPr>
            </a:pPr>
            <a:r>
              <a:rPr sz="2025" b="0">
                <a:solidFill>
                  <a:srgbClr val="182B3A"/>
                </a:solidFill>
                <a:latin typeface="Arial"/>
                <a:ea typeface="Arial"/>
                <a:cs typeface="Arial"/>
              </a:rPr>
              <a:t>The slowdown estimate depends on baseline movement</a:t>
            </a:r>
          </a:p>
          <a:p xmlns:a="http://schemas.openxmlformats.org/drawingml/2006/main">
            <a:pPr>
              <a:defRPr sz="2025" b="0">
                <a:solidFill>
                  <a:srgbClr val="182B3A"/>
                </a:solidFill>
                <a:latin typeface="Arial"/>
                <a:ea typeface="Arial"/>
                <a:cs typeface="Arial"/>
              </a:defRPr>
            </a:pPr>
            <a:r>
              <a:rPr sz="2025" b="0">
                <a:solidFill>
                  <a:srgbClr val="182B3A"/>
                </a:solidFill>
                <a:latin typeface="Arial"/>
                <a:ea typeface="Arial"/>
                <a:cs typeface="Arial"/>
              </a:rPr>
              <a:t>and pulse selection. All-pulse results do not establish slowing.</a:t>
            </a:r>
          </a:p>
        </p:txBody>
      </p:sp>
      <p:sp>
        <p:nvSpPr>
          <p:cNvPr id="12" name="">
            <a:extLst xmlns:a="http://schemas.openxmlformats.org/drawingml/2006/main">
              <a:ext uri="{FF2B5EF4-FFF2-40B4-BE49-F238E27FC236}">
                <a16:creationId xmlns:a16="http://schemas.microsoft.com/office/drawing/2014/main" id="{189341C3-8949-44D3-85C9-F9AA03B916D9}"/>
              </a:ext>
            </a:extLst>
          </p:cNvPr>
          <p:cNvSpPr>
            <a:spLocks xmlns:a="http://schemas.openxmlformats.org/drawingml/2006/main" noGrp="1"/>
          </p:cNvSpPr>
          <p:nvPr/>
        </p:nvSpPr>
        <p:spPr>
          <a:xfrm xmlns:a="http://schemas.openxmlformats.org/drawingml/2006/main">
            <a:off x="619125" y="4600575"/>
            <a:ext cx="1091565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13" name="">
            <a:extLst xmlns:a="http://schemas.openxmlformats.org/drawingml/2006/main">
              <a:ext uri="{FF2B5EF4-FFF2-40B4-BE49-F238E27FC236}">
                <a16:creationId xmlns:a16="http://schemas.microsoft.com/office/drawing/2014/main" id="{0614AE8A-4A9E-43F1-8AAA-D848C4994E2A}"/>
              </a:ext>
            </a:extLst>
          </p:cNvPr>
          <p:cNvSpPr>
            <a:spLocks xmlns:a="http://schemas.openxmlformats.org/drawingml/2006/main" noGrp="1"/>
          </p:cNvSpPr>
          <p:nvPr/>
        </p:nvSpPr>
        <p:spPr>
          <a:xfrm xmlns:a="http://schemas.openxmlformats.org/drawingml/2006/main">
            <a:off x="619125" y="4953000"/>
            <a:ext cx="2362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2B3A"/>
                </a:solidFill>
                <a:latin typeface="Arial"/>
                <a:ea typeface="Arial"/>
                <a:cs typeface="Arial"/>
              </a:defRPr>
            </a:defPPr>
          </a:lstStyle>
          <a:p xmlns:a="http://schemas.openxmlformats.org/drawingml/2006/main">
            <a:pPr>
              <a:defRPr sz="2400" b="1">
                <a:solidFill>
                  <a:srgbClr val="182B3A"/>
                </a:solidFill>
                <a:latin typeface="Arial"/>
                <a:ea typeface="Arial"/>
                <a:cs typeface="Arial"/>
              </a:defRPr>
            </a:pPr>
            <a:r>
              <a:rPr sz="2400" b="1">
                <a:solidFill>
                  <a:srgbClr val="182B3A"/>
                </a:solidFill>
                <a:latin typeface="Arial"/>
                <a:ea typeface="Arial"/>
                <a:cs typeface="Arial"/>
              </a:rPr>
              <a:t>Pivots</a:t>
            </a:r>
          </a:p>
        </p:txBody>
      </p:sp>
      <p:sp>
        <p:nvSpPr>
          <p:cNvPr id="14" name="">
            <a:extLst xmlns:a="http://schemas.openxmlformats.org/drawingml/2006/main">
              <a:ext uri="{FF2B5EF4-FFF2-40B4-BE49-F238E27FC236}">
                <a16:creationId xmlns:a16="http://schemas.microsoft.com/office/drawing/2014/main" id="{53688FCE-6938-4FD0-8E35-7A502772EACD}"/>
              </a:ext>
            </a:extLst>
          </p:cNvPr>
          <p:cNvSpPr>
            <a:spLocks xmlns:a="http://schemas.openxmlformats.org/drawingml/2006/main" noGrp="1"/>
          </p:cNvSpPr>
          <p:nvPr/>
        </p:nvSpPr>
        <p:spPr>
          <a:xfrm xmlns:a="http://schemas.openxmlformats.org/drawingml/2006/main">
            <a:off x="3324225" y="4943475"/>
            <a:ext cx="8039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2B3A"/>
                </a:solidFill>
                <a:latin typeface="Arial"/>
                <a:ea typeface="Arial"/>
                <a:cs typeface="Arial"/>
              </a:defRPr>
            </a:defPPr>
          </a:lstStyle>
          <a:p xmlns:a="http://schemas.openxmlformats.org/drawingml/2006/main">
            <a:pPr>
              <a:defRPr sz="2025" b="0">
                <a:solidFill>
                  <a:srgbClr val="182B3A"/>
                </a:solidFill>
                <a:latin typeface="Arial"/>
                <a:ea typeface="Arial"/>
                <a:cs typeface="Arial"/>
              </a:defRPr>
            </a:pPr>
            <a:r>
              <a:rPr sz="2025" b="0">
                <a:solidFill>
                  <a:srgbClr val="182B3A"/>
                </a:solidFill>
                <a:latin typeface="Arial"/>
                <a:ea typeface="Arial"/>
                <a:cs typeface="Arial"/>
              </a:rPr>
              <a:t>Strict pivot-like events become more frequent, but remain</a:t>
            </a:r>
          </a:p>
          <a:p xmlns:a="http://schemas.openxmlformats.org/drawingml/2006/main">
            <a:pPr>
              <a:defRPr sz="2025" b="0">
                <a:solidFill>
                  <a:srgbClr val="182B3A"/>
                </a:solidFill>
                <a:latin typeface="Arial"/>
                <a:ea typeface="Arial"/>
                <a:cs typeface="Arial"/>
              </a:defRPr>
            </a:pPr>
            <a:r>
              <a:rPr sz="2025" b="0">
                <a:solidFill>
                  <a:srgbClr val="182B3A"/>
                </a:solidFill>
                <a:latin typeface="Arial"/>
                <a:ea typeface="Arial"/>
                <a:cs typeface="Arial"/>
              </a:rPr>
              <a:t>a small fraction of stimulation events at the default threshold.</a:t>
            </a:r>
          </a:p>
        </p:txBody>
      </p:sp>
    </p:spTree>
    <p:extLst>
      <p:ext uri="{BB962C8B-B14F-4D97-AF65-F5344CB8AC3E}">
        <p14:creationId xmlns:p14="http://schemas.microsoft.com/office/powerpoint/2010/main" val="24533656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7142894-1B2B-4CF7-804E-4545E6472B44}"/>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APPENDIX  /  ARCHIVED HEADING</a:t>
            </a:r>
          </a:p>
        </p:txBody>
      </p:sp>
      <p:sp>
        <p:nvSpPr>
          <p:cNvPr id="2" name="">
            <a:extLst xmlns:a="http://schemas.openxmlformats.org/drawingml/2006/main">
              <a:ext uri="{FF2B5EF4-FFF2-40B4-BE49-F238E27FC236}">
                <a16:creationId xmlns:a16="http://schemas.microsoft.com/office/drawing/2014/main" id="{B8EE058F-773E-4B37-A513-951E8A81D161}"/>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Archived heading measurements agree in direction</a:t>
            </a:r>
          </a:p>
        </p:txBody>
      </p:sp>
      <p:sp>
        <p:nvSpPr>
          <p:cNvPr id="3" name="">
            <a:extLst xmlns:a="http://schemas.openxmlformats.org/drawingml/2006/main">
              <a:ext uri="{FF2B5EF4-FFF2-40B4-BE49-F238E27FC236}">
                <a16:creationId xmlns:a16="http://schemas.microsoft.com/office/drawing/2014/main" id="{DA4871AE-666B-4A83-8643-A3A8247D8325}"/>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The 84-fly export also separates both activation groups from the controls</a:t>
            </a:r>
          </a:p>
        </p:txBody>
      </p:sp>
      <p:sp>
        <p:nvSpPr>
          <p:cNvPr id="4" name="">
            <a:extLst xmlns:a="http://schemas.openxmlformats.org/drawingml/2006/main">
              <a:ext uri="{FF2B5EF4-FFF2-40B4-BE49-F238E27FC236}">
                <a16:creationId xmlns:a16="http://schemas.microsoft.com/office/drawing/2014/main" id="{FE816A36-81A0-4DB6-BE9A-7FAD14C9F87A}"/>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5799B008-3155-4B8D-8BA9-C68E6992BBD9}"/>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S1. Archived heading-displacement values, not opto-minus-pre differences. Points: flies; diamonds: means.</a:t>
            </a:r>
          </a:p>
        </p:txBody>
      </p:sp>
      <p:sp>
        <p:nvSpPr>
          <p:cNvPr id="6" name="">
            <a:extLst xmlns:a="http://schemas.openxmlformats.org/drawingml/2006/main">
              <a:ext uri="{FF2B5EF4-FFF2-40B4-BE49-F238E27FC236}">
                <a16:creationId xmlns:a16="http://schemas.microsoft.com/office/drawing/2014/main" id="{0550BD3E-9D0D-4216-9BBC-C886405A0975}"/>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17</a:t>
            </a:r>
          </a:p>
        </p:txBody>
      </p:sp>
      <p:pic>
        <p:nvPicPr>
          <p:cNvPr id="7" name="">
            <a:extLst xmlns:a="http://schemas.openxmlformats.org/drawingml/2006/main">
              <a:ext uri="{FF2B5EF4-FFF2-40B4-BE49-F238E27FC236}">
                <a16:creationId xmlns:a16="http://schemas.microsoft.com/office/drawing/2014/main" id="{AF95E07C-3BAC-408B-BC29-02416BBA03E4}"/>
              </a:ext>
            </a:extLst>
          </p:cNvPr>
          <p:cNvPicPr>
            <a:picLocks xmlns:a="http://schemas.openxmlformats.org/drawingml/2006/main" noChangeAspect="1"/>
          </p:cNvPicPr>
          <p:nvPr/>
        </p:nvPicPr>
        <p:blipFill>
          <a:blip xmlns:r="http://schemas.openxmlformats.org/officeDocument/2006/relationships" xmlns:a="http://schemas.openxmlformats.org/drawingml/2006/main" r:embed="R1a5bf2cda7c246da"/>
          <a:stretch xmlns:a="http://schemas.openxmlformats.org/drawingml/2006/main"/>
        </p:blipFill>
        <p:spPr>
          <a:xfrm xmlns:a="http://schemas.openxmlformats.org/drawingml/2006/main">
            <a:off x="924612" y="1819275"/>
            <a:ext cx="10342775" cy="4324350"/>
          </a:xfrm>
          <a:prstGeom xmlns:a="http://schemas.openxmlformats.org/drawingml/2006/main" prst="rect">
            <a:avLst/>
          </a:prstGeom>
        </p:spPr>
      </p:pic>
    </p:spTree>
    <p:extLst>
      <p:ext uri="{BB962C8B-B14F-4D97-AF65-F5344CB8AC3E}">
        <p14:creationId xmlns:p14="http://schemas.microsoft.com/office/powerpoint/2010/main" val="44601816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D604560-6281-4439-B641-43596BB7C8C7}"/>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APPENDIX  /  PIVOT RATES</a:t>
            </a:r>
          </a:p>
        </p:txBody>
      </p:sp>
      <p:sp>
        <p:nvSpPr>
          <p:cNvPr id="2" name="">
            <a:extLst xmlns:a="http://schemas.openxmlformats.org/drawingml/2006/main">
              <a:ext uri="{FF2B5EF4-FFF2-40B4-BE49-F238E27FC236}">
                <a16:creationId xmlns:a16="http://schemas.microsoft.com/office/drawing/2014/main" id="{EE4CEB54-C8D9-47C5-A3C4-05CA3CF73138}"/>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Pivot rates vary across flies and genotypes</a:t>
            </a:r>
          </a:p>
        </p:txBody>
      </p:sp>
      <p:sp>
        <p:nvSpPr>
          <p:cNvPr id="3" name="">
            <a:extLst xmlns:a="http://schemas.openxmlformats.org/drawingml/2006/main">
              <a:ext uri="{FF2B5EF4-FFF2-40B4-BE49-F238E27FC236}">
                <a16:creationId xmlns:a16="http://schemas.microsoft.com/office/drawing/2014/main" id="{A2759234-7AA6-4B9D-A33D-C1F904F7D75E}"/>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Thin lines connect the same fly before and during stimulation</a:t>
            </a:r>
          </a:p>
        </p:txBody>
      </p:sp>
      <p:sp>
        <p:nvSpPr>
          <p:cNvPr id="4" name="">
            <a:extLst xmlns:a="http://schemas.openxmlformats.org/drawingml/2006/main">
              <a:ext uri="{FF2B5EF4-FFF2-40B4-BE49-F238E27FC236}">
                <a16:creationId xmlns:a16="http://schemas.microsoft.com/office/drawing/2014/main" id="{3566E481-FA81-46CE-918E-1BC5BF0630C3}"/>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5B89FB4C-3D23-4082-B6F7-C027173A3F51}"/>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S2. Thick lines: genotype means. Full fly distributions accompany the pooled comparison on slide 13.</a:t>
            </a:r>
          </a:p>
        </p:txBody>
      </p:sp>
      <p:sp>
        <p:nvSpPr>
          <p:cNvPr id="6" name="">
            <a:extLst xmlns:a="http://schemas.openxmlformats.org/drawingml/2006/main">
              <a:ext uri="{FF2B5EF4-FFF2-40B4-BE49-F238E27FC236}">
                <a16:creationId xmlns:a16="http://schemas.microsoft.com/office/drawing/2014/main" id="{74CFE0A5-A5D7-4E57-A2A5-6711ABED1811}"/>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18</a:t>
            </a:r>
          </a:p>
        </p:txBody>
      </p:sp>
      <p:pic>
        <p:nvPicPr>
          <p:cNvPr id="7" name="">
            <a:extLst xmlns:a="http://schemas.openxmlformats.org/drawingml/2006/main">
              <a:ext uri="{FF2B5EF4-FFF2-40B4-BE49-F238E27FC236}">
                <a16:creationId xmlns:a16="http://schemas.microsoft.com/office/drawing/2014/main" id="{8B3AC858-BB4A-44CC-AC93-AA52E4918997}"/>
              </a:ext>
            </a:extLst>
          </p:cNvPr>
          <p:cNvPicPr>
            <a:picLocks xmlns:a="http://schemas.openxmlformats.org/drawingml/2006/main" noChangeAspect="1"/>
          </p:cNvPicPr>
          <p:nvPr/>
        </p:nvPicPr>
        <p:blipFill>
          <a:blip xmlns:r="http://schemas.openxmlformats.org/officeDocument/2006/relationships" xmlns:a="http://schemas.openxmlformats.org/drawingml/2006/main" r:embed="R56aef793b563401f"/>
          <a:stretch xmlns:a="http://schemas.openxmlformats.org/drawingml/2006/main"/>
        </p:blipFill>
        <p:spPr>
          <a:xfrm xmlns:a="http://schemas.openxmlformats.org/drawingml/2006/main">
            <a:off x="924612" y="1819275"/>
            <a:ext cx="10342775" cy="4324350"/>
          </a:xfrm>
          <a:prstGeom xmlns:a="http://schemas.openxmlformats.org/drawingml/2006/main" prst="rect">
            <a:avLst/>
          </a:prstGeom>
        </p:spPr>
      </p:pic>
    </p:spTree>
    <p:extLst>
      <p:ext uri="{BB962C8B-B14F-4D97-AF65-F5344CB8AC3E}">
        <p14:creationId xmlns:p14="http://schemas.microsoft.com/office/powerpoint/2010/main" val="42952092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D88C9B0-47C7-49E4-9CF9-8481915498E2}"/>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APPENDIX  /  PROTOCOL HISTORY</a:t>
            </a:r>
          </a:p>
        </p:txBody>
      </p:sp>
      <p:sp>
        <p:nvSpPr>
          <p:cNvPr id="2" name="">
            <a:extLst xmlns:a="http://schemas.openxmlformats.org/drawingml/2006/main">
              <a:ext uri="{FF2B5EF4-FFF2-40B4-BE49-F238E27FC236}">
                <a16:creationId xmlns:a16="http://schemas.microsoft.com/office/drawing/2014/main" id="{85C14B73-49C6-433C-86E7-30BCE1581335}"/>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Pilot and blinded protocols remain separate</a:t>
            </a:r>
          </a:p>
        </p:txBody>
      </p:sp>
      <p:sp>
        <p:nvSpPr>
          <p:cNvPr id="3" name="">
            <a:extLst xmlns:a="http://schemas.openxmlformats.org/drawingml/2006/main">
              <a:ext uri="{FF2B5EF4-FFF2-40B4-BE49-F238E27FC236}">
                <a16:creationId xmlns:a16="http://schemas.microsoft.com/office/drawing/2014/main" id="{C9841BA1-057A-498B-A1D0-D71FB2FA3809}"/>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The early experiment used different controls and shorter trials</a:t>
            </a:r>
          </a:p>
        </p:txBody>
      </p:sp>
      <p:sp>
        <p:nvSpPr>
          <p:cNvPr id="4" name="">
            <a:extLst xmlns:a="http://schemas.openxmlformats.org/drawingml/2006/main">
              <a:ext uri="{FF2B5EF4-FFF2-40B4-BE49-F238E27FC236}">
                <a16:creationId xmlns:a16="http://schemas.microsoft.com/office/drawing/2014/main" id="{F47081B8-8CE9-4F5B-B8CA-213CF207A6EC}"/>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F61696AF-460D-48C5-9171-04B5C9E84CEF}"/>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S4 slide 18; S3 slide 18. Pilot data supply context and are not pooled into the main cohort.</a:t>
            </a:r>
          </a:p>
        </p:txBody>
      </p:sp>
      <p:sp>
        <p:nvSpPr>
          <p:cNvPr id="6" name="">
            <a:extLst xmlns:a="http://schemas.openxmlformats.org/drawingml/2006/main">
              <a:ext uri="{FF2B5EF4-FFF2-40B4-BE49-F238E27FC236}">
                <a16:creationId xmlns:a16="http://schemas.microsoft.com/office/drawing/2014/main" id="{3C546623-3BE1-4595-AA7E-999BD08D1879}"/>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19</a:t>
            </a:r>
          </a:p>
        </p:txBody>
      </p:sp>
      <p:graphicFrame>
        <p:nvGraphicFramePr>
          <p:cNvPr id="7" name="">
            <a:extLst xmlns:a="http://schemas.openxmlformats.org/drawingml/2006/main">
              <a:ext uri="{FF2B5EF4-FFF2-40B4-BE49-F238E27FC236}">
                <a16:creationId xmlns:a16="http://schemas.microsoft.com/office/drawing/2014/main" id="{0A3EBFC6-FC97-435E-8CC3-63670263383B}"/>
              </a:ext>
            </a:extLst>
          </p:cNvPr>
          <p:cNvGraphicFramePr/>
          <p:nvPr/>
        </p:nvGraphicFramePr>
        <p:xfrm>
          <a:off xmlns:a="http://schemas.openxmlformats.org/drawingml/2006/main" x="571500" y="1981200"/>
          <a:ext xmlns:a="http://schemas.openxmlformats.org/drawingml/2006/main" cx="11049000" cy="3638550"/>
        </p:xfrm>
        <a:graphic xmlns:a="http://schemas.openxmlformats.org/drawingml/2006/main">
          <a:graphicData uri="http://schemas.openxmlformats.org/drawingml/2006/table">
            <a:tbl>
              <a:tblPr/>
              <a:tblGrid>
                <a:gridCol w="2524125"/>
                <a:gridCol w="3924300"/>
                <a:gridCol w="4600575"/>
              </a:tblGrid>
              <a:tr h="606425">
                <a:tc>
                  <a:txBody>
                    <a:bodyPr/>
                    <a:lstStyle/>
                    <a:p>
                      <a:r>
                        <a:rPr sz="1725" b="1">
                          <a:solidFill>
                            <a:srgbClr val="FFFFFF"/>
                          </a:solidFill>
                          <a:latin typeface="Arial"/>
                          <a:ea typeface="Arial"/>
                          <a:cs typeface="Arial"/>
                        </a:rPr>
                        <a:t>Feature</a:t>
                      </a:r>
                    </a:p>
                  </a:txBody>
                  <a:tcPr marL="133350" marR="114300" marT="114300" marB="95250" anchor="ctr">
                    <a:solidFill>
                      <a:srgbClr val="182B3A"/>
                    </a:solidFill>
                  </a:tcPr>
                </a:tc>
                <a:tc>
                  <a:txBody>
                    <a:bodyPr/>
                    <a:lstStyle/>
                    <a:p>
                      <a:r>
                        <a:rPr sz="1725" b="1">
                          <a:solidFill>
                            <a:srgbClr val="FFFFFF"/>
                          </a:solidFill>
                          <a:latin typeface="Arial"/>
                          <a:ea typeface="Arial"/>
                          <a:cs typeface="Arial"/>
                        </a:rPr>
                        <a:t>Earlier pilot</a:t>
                      </a:r>
                    </a:p>
                  </a:txBody>
                  <a:tcPr marL="133350" marR="114300" marT="114300" marB="95250" anchor="ctr">
                    <a:solidFill>
                      <a:srgbClr val="182B3A"/>
                    </a:solidFill>
                  </a:tcPr>
                </a:tc>
                <a:tc>
                  <a:txBody>
                    <a:bodyPr/>
                    <a:lstStyle/>
                    <a:p>
                      <a:r>
                        <a:rPr sz="1725" b="1">
                          <a:solidFill>
                            <a:srgbClr val="FFFFFF"/>
                          </a:solidFill>
                          <a:latin typeface="Arial"/>
                          <a:ea typeface="Arial"/>
                          <a:cs typeface="Arial"/>
                        </a:rPr>
                        <a:t>Later blinded cohort</a:t>
                      </a:r>
                    </a:p>
                  </a:txBody>
                  <a:tcPr marL="133350" marR="114300" marT="114300" marB="95250" anchor="ctr">
                    <a:solidFill>
                      <a:srgbClr val="182B3A"/>
                    </a:solidFill>
                  </a:tcPr>
                </a:tc>
              </a:tr>
              <a:tr h="606425">
                <a:tc>
                  <a:txBody>
                    <a:bodyPr/>
                    <a:lstStyle/>
                    <a:p>
                      <a:r>
                        <a:rPr sz="1725">
                          <a:solidFill>
                            <a:srgbClr val="182B3A"/>
                          </a:solidFill>
                          <a:latin typeface="Arial"/>
                          <a:ea typeface="Arial"/>
                          <a:cs typeface="Arial"/>
                        </a:rPr>
                        <a:t>Pulse duration</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0.5 or 1 s</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1 s</a:t>
                      </a:r>
                    </a:p>
                  </a:txBody>
                  <a:tcPr marL="133350" marR="114300" marT="114300" marB="95250" anchor="ctr">
                    <a:solidFill>
                      <a:srgbClr val="FFFFFF"/>
                    </a:solidFill>
                  </a:tcPr>
                </a:tc>
              </a:tr>
              <a:tr h="606425">
                <a:tc>
                  <a:txBody>
                    <a:bodyPr/>
                    <a:lstStyle/>
                    <a:p>
                      <a:r>
                        <a:rPr sz="1725">
                          <a:solidFill>
                            <a:srgbClr val="182B3A"/>
                          </a:solidFill>
                          <a:latin typeface="Arial"/>
                          <a:ea typeface="Arial"/>
                          <a:cs typeface="Arial"/>
                        </a:rPr>
                        <a:t>Trial length</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6 min</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20 min</a:t>
                      </a:r>
                    </a:p>
                  </a:txBody>
                  <a:tcPr marL="133350" marR="114300" marT="114300" marB="95250" anchor="ctr">
                    <a:solidFill>
                      <a:srgbClr val="FFFFFF"/>
                    </a:solidFill>
                  </a:tcPr>
                </a:tc>
              </a:tr>
              <a:tr h="606425">
                <a:tc>
                  <a:txBody>
                    <a:bodyPr/>
                    <a:lstStyle/>
                    <a:p>
                      <a:r>
                        <a:rPr sz="1725">
                          <a:solidFill>
                            <a:srgbClr val="182B3A"/>
                          </a:solidFill>
                          <a:latin typeface="Arial"/>
                          <a:ea typeface="Arial"/>
                          <a:cs typeface="Arial"/>
                        </a:rPr>
                        <a:t>Visual setting</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Closed-loop bar</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Closed-loop bar</a:t>
                      </a:r>
                    </a:p>
                  </a:txBody>
                  <a:tcPr marL="133350" marR="114300" marT="114300" marB="95250" anchor="ctr">
                    <a:solidFill>
                      <a:srgbClr val="FFFFFF"/>
                    </a:solidFill>
                  </a:tcPr>
                </a:tc>
              </a:tr>
              <a:tr h="606425">
                <a:tc>
                  <a:txBody>
                    <a:bodyPr/>
                    <a:lstStyle/>
                    <a:p>
                      <a:r>
                        <a:rPr sz="1725">
                          <a:solidFill>
                            <a:srgbClr val="182B3A"/>
                          </a:solidFill>
                          <a:latin typeface="Arial"/>
                          <a:ea typeface="Arial"/>
                          <a:cs typeface="Arial"/>
                        </a:rPr>
                        <a:t>Controls</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ISOD1 crosses</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GFP crosses; empty-split × csChrimson</a:t>
                      </a:r>
                    </a:p>
                  </a:txBody>
                  <a:tcPr marL="133350" marR="114300" marT="114300" marB="95250" anchor="ctr">
                    <a:solidFill>
                      <a:srgbClr val="FFFFFF"/>
                    </a:solidFill>
                  </a:tcPr>
                </a:tc>
              </a:tr>
              <a:tr h="606425">
                <a:tc>
                  <a:txBody>
                    <a:bodyPr/>
                    <a:lstStyle/>
                    <a:p>
                      <a:r>
                        <a:rPr sz="1725">
                          <a:solidFill>
                            <a:srgbClr val="182B3A"/>
                          </a:solidFill>
                          <a:latin typeface="Arial"/>
                          <a:ea typeface="Arial"/>
                          <a:cs typeface="Arial"/>
                        </a:rPr>
                        <a:t>Source presentation</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labmeeting8_20260306</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labmeeting_9</a:t>
                      </a:r>
                    </a:p>
                  </a:txBody>
                  <a:tcPr marL="133350" marR="114300" marT="114300" marB="9525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759675A6-E117-4E4A-8255-C7065D79FCD1}"/>
              </a:ext>
            </a:extLst>
          </p:cNvPr>
          <p:cNvSpPr>
            <a:spLocks xmlns:a="http://schemas.openxmlformats.org/drawingml/2006/main" noGrp="1"/>
          </p:cNvSpPr>
          <p:nvPr/>
        </p:nvSpPr>
        <p:spPr>
          <a:xfrm xmlns:a="http://schemas.openxmlformats.org/drawingml/2006/main">
            <a:off x="628650" y="5867400"/>
            <a:ext cx="1083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86776"/>
                </a:solidFill>
                <a:latin typeface="Arial"/>
                <a:ea typeface="Arial"/>
                <a:cs typeface="Arial"/>
              </a:defRPr>
            </a:defPPr>
          </a:lstStyle>
          <a:p xmlns:a="http://schemas.openxmlformats.org/drawingml/2006/main">
            <a:pPr>
              <a:defRPr sz="1725" b="0">
                <a:solidFill>
                  <a:srgbClr val="586776"/>
                </a:solidFill>
                <a:latin typeface="Arial"/>
                <a:ea typeface="Arial"/>
                <a:cs typeface="Arial"/>
              </a:defRPr>
            </a:pPr>
            <a:r>
              <a:rPr sz="1725" b="0">
                <a:solidFill>
                  <a:srgbClr val="586776"/>
                </a:solidFill>
                <a:latin typeface="Arial"/>
                <a:ea typeface="Arial"/>
                <a:cs typeface="Arial"/>
              </a:rPr>
              <a:t>The pilot source reports a startle response across genotypes.</a:t>
            </a:r>
          </a:p>
        </p:txBody>
      </p:sp>
    </p:spTree>
    <p:extLst>
      <p:ext uri="{BB962C8B-B14F-4D97-AF65-F5344CB8AC3E}">
        <p14:creationId xmlns:p14="http://schemas.microsoft.com/office/powerpoint/2010/main" val="135142263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4DC5E4A-22C6-4122-B6E5-7C6689311996}"/>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APPENDIX  /  ACCELERATION</a:t>
            </a:r>
          </a:p>
        </p:txBody>
      </p:sp>
      <p:sp>
        <p:nvSpPr>
          <p:cNvPr id="2" name="">
            <a:extLst xmlns:a="http://schemas.openxmlformats.org/drawingml/2006/main">
              <a:ext uri="{FF2B5EF4-FFF2-40B4-BE49-F238E27FC236}">
                <a16:creationId xmlns:a16="http://schemas.microsoft.com/office/drawing/2014/main" id="{B4057631-F2AC-4095-8721-A85C1D1E2914}"/>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Acceleration values retain their original scaling</a:t>
            </a:r>
          </a:p>
        </p:txBody>
      </p:sp>
      <p:sp>
        <p:nvSpPr>
          <p:cNvPr id="3" name="">
            <a:extLst xmlns:a="http://schemas.openxmlformats.org/drawingml/2006/main">
              <a:ext uri="{FF2B5EF4-FFF2-40B4-BE49-F238E27FC236}">
                <a16:creationId xmlns:a16="http://schemas.microsoft.com/office/drawing/2014/main" id="{9904F632-A2D9-4A6A-9635-3762323E96BC}"/>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The archive contains acceleration fields, but their calibration is not established</a:t>
            </a:r>
          </a:p>
        </p:txBody>
      </p:sp>
      <p:sp>
        <p:nvSpPr>
          <p:cNvPr id="4" name="">
            <a:extLst xmlns:a="http://schemas.openxmlformats.org/drawingml/2006/main">
              <a:ext uri="{FF2B5EF4-FFF2-40B4-BE49-F238E27FC236}">
                <a16:creationId xmlns:a16="http://schemas.microsoft.com/office/drawing/2014/main" id="{406011C7-FA77-463F-89DE-267C1F72D4BD}"/>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68BA71DC-E263-45A6-95B3-4BA4D3F7A00D}"/>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S1, S8. Source units only. These values are not used for the biological conclusions.</a:t>
            </a:r>
          </a:p>
        </p:txBody>
      </p:sp>
      <p:sp>
        <p:nvSpPr>
          <p:cNvPr id="6" name="">
            <a:extLst xmlns:a="http://schemas.openxmlformats.org/drawingml/2006/main">
              <a:ext uri="{FF2B5EF4-FFF2-40B4-BE49-F238E27FC236}">
                <a16:creationId xmlns:a16="http://schemas.microsoft.com/office/drawing/2014/main" id="{32C2F0DE-640B-4639-B0BB-F744D94EE5E9}"/>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20</a:t>
            </a:r>
          </a:p>
        </p:txBody>
      </p:sp>
      <p:pic>
        <p:nvPicPr>
          <p:cNvPr id="7" name="">
            <a:extLst xmlns:a="http://schemas.openxmlformats.org/drawingml/2006/main">
              <a:ext uri="{FF2B5EF4-FFF2-40B4-BE49-F238E27FC236}">
                <a16:creationId xmlns:a16="http://schemas.microsoft.com/office/drawing/2014/main" id="{0F3B9FEF-C1BF-452E-AB1D-C98562BC1C24}"/>
              </a:ext>
            </a:extLst>
          </p:cNvPr>
          <p:cNvPicPr>
            <a:picLocks xmlns:a="http://schemas.openxmlformats.org/drawingml/2006/main" noChangeAspect="1"/>
          </p:cNvPicPr>
          <p:nvPr/>
        </p:nvPicPr>
        <p:blipFill>
          <a:blip xmlns:r="http://schemas.openxmlformats.org/officeDocument/2006/relationships" xmlns:a="http://schemas.openxmlformats.org/drawingml/2006/main" r:embed="Rc590732fda8443e2"/>
          <a:stretch xmlns:a="http://schemas.openxmlformats.org/drawingml/2006/main"/>
        </p:blipFill>
        <p:spPr>
          <a:xfrm xmlns:a="http://schemas.openxmlformats.org/drawingml/2006/main">
            <a:off x="924612" y="1819275"/>
            <a:ext cx="10342775" cy="4324350"/>
          </a:xfrm>
          <a:prstGeom xmlns:a="http://schemas.openxmlformats.org/drawingml/2006/main" prst="rect">
            <a:avLst/>
          </a:prstGeom>
        </p:spPr>
      </p:pic>
    </p:spTree>
    <p:extLst>
      <p:ext uri="{BB962C8B-B14F-4D97-AF65-F5344CB8AC3E}">
        <p14:creationId xmlns:p14="http://schemas.microsoft.com/office/powerpoint/2010/main" val="144164972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17B4091-9628-4986-BF4F-8376A9186548}"/>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APPENDIX  /  METHODS</a:t>
            </a:r>
          </a:p>
        </p:txBody>
      </p:sp>
      <p:sp>
        <p:nvSpPr>
          <p:cNvPr id="2" name="">
            <a:extLst xmlns:a="http://schemas.openxmlformats.org/drawingml/2006/main">
              <a:ext uri="{FF2B5EF4-FFF2-40B4-BE49-F238E27FC236}">
                <a16:creationId xmlns:a16="http://schemas.microsoft.com/office/drawing/2014/main" id="{C6EBA2DD-D091-4002-AEBB-086AC1C35056}"/>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Analysis uses flies as the unit of inference</a:t>
            </a:r>
          </a:p>
        </p:txBody>
      </p:sp>
      <p:sp>
        <p:nvSpPr>
          <p:cNvPr id="3" name="">
            <a:extLst xmlns:a="http://schemas.openxmlformats.org/drawingml/2006/main">
              <a:ext uri="{FF2B5EF4-FFF2-40B4-BE49-F238E27FC236}">
                <a16:creationId xmlns:a16="http://schemas.microsoft.com/office/drawing/2014/main" id="{DFCD0921-466C-4DD1-9E12-3AB897CDEF7D}"/>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All newly calculated comparisons are exploratory</a:t>
            </a:r>
          </a:p>
        </p:txBody>
      </p:sp>
      <p:sp>
        <p:nvSpPr>
          <p:cNvPr id="4" name="">
            <a:extLst xmlns:a="http://schemas.openxmlformats.org/drawingml/2006/main">
              <a:ext uri="{FF2B5EF4-FFF2-40B4-BE49-F238E27FC236}">
                <a16:creationId xmlns:a16="http://schemas.microsoft.com/office/drawing/2014/main" id="{9B23C1FC-708C-40B7-99C0-18B78A8E789D}"/>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F6C1EF32-4931-4BC6-B65C-DA9CB9B4B0DB}"/>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Complete numeric outputs, input checksums and runnable Python/R scripts accompany this deck.</a:t>
            </a:r>
          </a:p>
        </p:txBody>
      </p:sp>
      <p:sp>
        <p:nvSpPr>
          <p:cNvPr id="6" name="">
            <a:extLst xmlns:a="http://schemas.openxmlformats.org/drawingml/2006/main">
              <a:ext uri="{FF2B5EF4-FFF2-40B4-BE49-F238E27FC236}">
                <a16:creationId xmlns:a16="http://schemas.microsoft.com/office/drawing/2014/main" id="{6DC7C44A-0467-4DCD-A798-656CDF2CE623}"/>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21</a:t>
            </a:r>
          </a:p>
        </p:txBody>
      </p:sp>
      <p:graphicFrame>
        <p:nvGraphicFramePr>
          <p:cNvPr id="7" name="">
            <a:extLst xmlns:a="http://schemas.openxmlformats.org/drawingml/2006/main">
              <a:ext uri="{FF2B5EF4-FFF2-40B4-BE49-F238E27FC236}">
                <a16:creationId xmlns:a16="http://schemas.microsoft.com/office/drawing/2014/main" id="{EFB90806-89E9-44F0-A355-273B71AE620A}"/>
              </a:ext>
            </a:extLst>
          </p:cNvPr>
          <p:cNvGraphicFramePr/>
          <p:nvPr/>
        </p:nvGraphicFramePr>
        <p:xfrm>
          <a:off xmlns:a="http://schemas.openxmlformats.org/drawingml/2006/main" x="571500" y="1933575"/>
          <a:ext xmlns:a="http://schemas.openxmlformats.org/drawingml/2006/main" cx="11049000" cy="3752850"/>
        </p:xfrm>
        <a:graphic xmlns:a="http://schemas.openxmlformats.org/drawingml/2006/main">
          <a:graphicData uri="http://schemas.openxmlformats.org/drawingml/2006/table">
            <a:tbl>
              <a:tblPr/>
              <a:tblGrid>
                <a:gridCol w="2762250"/>
                <a:gridCol w="8286750"/>
              </a:tblGrid>
              <a:tr h="536121">
                <a:tc>
                  <a:txBody>
                    <a:bodyPr/>
                    <a:lstStyle/>
                    <a:p>
                      <a:r>
                        <a:rPr sz="1725" b="1">
                          <a:solidFill>
                            <a:srgbClr val="FFFFFF"/>
                          </a:solidFill>
                          <a:latin typeface="Arial"/>
                          <a:ea typeface="Arial"/>
                          <a:cs typeface="Arial"/>
                        </a:rPr>
                        <a:t>Analysis choice</a:t>
                      </a:r>
                    </a:p>
                  </a:txBody>
                  <a:tcPr marL="133350" marR="114300" marT="114300" marB="95250" anchor="ctr">
                    <a:solidFill>
                      <a:srgbClr val="182B3A"/>
                    </a:solidFill>
                  </a:tcPr>
                </a:tc>
                <a:tc>
                  <a:txBody>
                    <a:bodyPr/>
                    <a:lstStyle/>
                    <a:p>
                      <a:r>
                        <a:rPr sz="1725" b="1">
                          <a:solidFill>
                            <a:srgbClr val="FFFFFF"/>
                          </a:solidFill>
                          <a:latin typeface="Arial"/>
                          <a:ea typeface="Arial"/>
                          <a:cs typeface="Arial"/>
                        </a:rPr>
                        <a:t>Implementation</a:t>
                      </a:r>
                    </a:p>
                  </a:txBody>
                  <a:tcPr marL="133350" marR="114300" marT="114300" marB="95250" anchor="ctr">
                    <a:solidFill>
                      <a:srgbClr val="182B3A"/>
                    </a:solidFill>
                  </a:tcPr>
                </a:tc>
              </a:tr>
              <a:tr h="536121">
                <a:tc>
                  <a:txBody>
                    <a:bodyPr/>
                    <a:lstStyle/>
                    <a:p>
                      <a:r>
                        <a:rPr sz="1725">
                          <a:solidFill>
                            <a:srgbClr val="182B3A"/>
                          </a:solidFill>
                          <a:latin typeface="Arial"/>
                          <a:ea typeface="Arial"/>
                          <a:cs typeface="Arial"/>
                        </a:rPr>
                        <a:t>Window</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Preceding 1 s vs first 1 s of light</a:t>
                      </a:r>
                    </a:p>
                  </a:txBody>
                  <a:tcPr marL="133350" marR="114300" marT="114300" marB="95250" anchor="ctr">
                    <a:solidFill>
                      <a:srgbClr val="FFFFFF"/>
                    </a:solidFill>
                  </a:tcPr>
                </a:tc>
              </a:tr>
              <a:tr h="536121">
                <a:tc>
                  <a:txBody>
                    <a:bodyPr/>
                    <a:lstStyle/>
                    <a:p>
                      <a:r>
                        <a:rPr sz="1725">
                          <a:solidFill>
                            <a:srgbClr val="182B3A"/>
                          </a:solidFill>
                          <a:latin typeface="Arial"/>
                          <a:ea typeface="Arial"/>
                          <a:cs typeface="Arial"/>
                        </a:rPr>
                        <a:t>Independent unit</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Mean across stimuli within each fly</a:t>
                      </a:r>
                    </a:p>
                  </a:txBody>
                  <a:tcPr marL="133350" marR="114300" marT="114300" marB="95250" anchor="ctr">
                    <a:solidFill>
                      <a:srgbClr val="FFFFFF"/>
                    </a:solidFill>
                  </a:tcPr>
                </a:tc>
              </a:tr>
              <a:tr h="536121">
                <a:tc>
                  <a:txBody>
                    <a:bodyPr/>
                    <a:lstStyle/>
                    <a:p>
                      <a:r>
                        <a:rPr sz="1725">
                          <a:solidFill>
                            <a:srgbClr val="182B3A"/>
                          </a:solidFill>
                          <a:latin typeface="Arial"/>
                          <a:ea typeface="Arial"/>
                          <a:cs typeface="Arial"/>
                        </a:rPr>
                        <a:t>Uncertainty</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20,000 fly-bootstrap replicates; pointwise 95% intervals</a:t>
                      </a:r>
                    </a:p>
                  </a:txBody>
                  <a:tcPr marL="133350" marR="114300" marT="114300" marB="95250" anchor="ctr">
                    <a:solidFill>
                      <a:srgbClr val="FFFFFF"/>
                    </a:solidFill>
                  </a:tcPr>
                </a:tc>
              </a:tr>
              <a:tr h="536121">
                <a:tc>
                  <a:txBody>
                    <a:bodyPr/>
                    <a:lstStyle/>
                    <a:p>
                      <a:r>
                        <a:rPr sz="1725">
                          <a:solidFill>
                            <a:srgbClr val="182B3A"/>
                          </a:solidFill>
                          <a:latin typeface="Arial"/>
                          <a:ea typeface="Arial"/>
                          <a:cs typeface="Arial"/>
                        </a:rPr>
                        <a:t>New tests</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100,000 two-sided label permutations; plus-one correction</a:t>
                      </a:r>
                    </a:p>
                  </a:txBody>
                  <a:tcPr marL="133350" marR="114300" marT="114300" marB="95250" anchor="ctr">
                    <a:solidFill>
                      <a:srgbClr val="FFFFFF"/>
                    </a:solidFill>
                  </a:tcPr>
                </a:tc>
              </a:tr>
              <a:tr h="536121">
                <a:tc>
                  <a:txBody>
                    <a:bodyPr/>
                    <a:lstStyle/>
                    <a:p>
                      <a:r>
                        <a:rPr sz="1725">
                          <a:solidFill>
                            <a:srgbClr val="182B3A"/>
                          </a:solidFill>
                          <a:latin typeface="Arial"/>
                          <a:ea typeface="Arial"/>
                          <a:cs typeface="Arial"/>
                        </a:rPr>
                        <a:t>Multiple comparisons</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BH FDR across 12 genotype contrasts</a:t>
                      </a:r>
                    </a:p>
                  </a:txBody>
                  <a:tcPr marL="133350" marR="114300" marT="114300" marB="95250" anchor="ctr">
                    <a:solidFill>
                      <a:srgbClr val="FFFFFF"/>
                    </a:solidFill>
                  </a:tcPr>
                </a:tc>
              </a:tr>
              <a:tr h="536121">
                <a:tc>
                  <a:txBody>
                    <a:bodyPr/>
                    <a:lstStyle/>
                    <a:p>
                      <a:r>
                        <a:rPr sz="1725">
                          <a:solidFill>
                            <a:srgbClr val="182B3A"/>
                          </a:solidFill>
                          <a:latin typeface="Arial"/>
                          <a:ea typeface="Arial"/>
                          <a:cs typeface="Arial"/>
                        </a:rPr>
                        <a:t>Data handling</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Fixed seed 20261013; no imputation or outlier removal</a:t>
                      </a:r>
                    </a:p>
                  </a:txBody>
                  <a:tcPr marL="133350" marR="114300" marT="114300" marB="9525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4C81C84F-8206-42C8-A5F8-7D062FA00CB7}"/>
              </a:ext>
            </a:extLst>
          </p:cNvPr>
          <p:cNvSpPr>
            <a:spLocks xmlns:a="http://schemas.openxmlformats.org/drawingml/2006/main" noGrp="1"/>
          </p:cNvSpPr>
          <p:nvPr/>
        </p:nvSpPr>
        <p:spPr>
          <a:xfrm xmlns:a="http://schemas.openxmlformats.org/drawingml/2006/main">
            <a:off x="609600" y="5924550"/>
            <a:ext cx="1083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86776"/>
                </a:solidFill>
                <a:latin typeface="Arial"/>
                <a:ea typeface="Arial"/>
                <a:cs typeface="Arial"/>
              </a:defRPr>
            </a:defPPr>
          </a:lstStyle>
          <a:p xmlns:a="http://schemas.openxmlformats.org/drawingml/2006/main">
            <a:pPr>
              <a:defRPr sz="1575" b="0">
                <a:solidFill>
                  <a:srgbClr val="586776"/>
                </a:solidFill>
                <a:latin typeface="Arial"/>
                <a:ea typeface="Arial"/>
                <a:cs typeface="Arial"/>
              </a:defRPr>
            </a:pPr>
            <a:r>
              <a:rPr sz="1575" b="0">
                <a:solidFill>
                  <a:srgbClr val="586776"/>
                </a:solidFill>
                <a:latin typeface="Arial"/>
                <a:ea typeface="Arial"/>
                <a:cs typeface="Arial"/>
              </a:rPr>
              <a:t>The deck starts from local exports. Raw acquisition and upstream preprocessing are not re-run.</a:t>
            </a:r>
          </a:p>
        </p:txBody>
      </p:sp>
    </p:spTree>
    <p:extLst>
      <p:ext uri="{BB962C8B-B14F-4D97-AF65-F5344CB8AC3E}">
        <p14:creationId xmlns:p14="http://schemas.microsoft.com/office/powerpoint/2010/main" val="26762933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291A76D-A17B-4660-845A-BD1865AD44AB}"/>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APPENDIX  /  SOURCES</a:t>
            </a:r>
          </a:p>
        </p:txBody>
      </p:sp>
      <p:sp>
        <p:nvSpPr>
          <p:cNvPr id="2" name="">
            <a:extLst xmlns:a="http://schemas.openxmlformats.org/drawingml/2006/main">
              <a:ext uri="{FF2B5EF4-FFF2-40B4-BE49-F238E27FC236}">
                <a16:creationId xmlns:a16="http://schemas.microsoft.com/office/drawing/2014/main" id="{5A82F8B6-3ABA-4BFE-B64E-1EF8E0BB99B5}"/>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Source record</a:t>
            </a:r>
          </a:p>
        </p:txBody>
      </p:sp>
      <p:sp>
        <p:nvSpPr>
          <p:cNvPr id="3" name="">
            <a:extLst xmlns:a="http://schemas.openxmlformats.org/drawingml/2006/main">
              <a:ext uri="{FF2B5EF4-FFF2-40B4-BE49-F238E27FC236}">
                <a16:creationId xmlns:a16="http://schemas.microsoft.com/office/drawing/2014/main" id="{8D2093AA-DF1C-4F67-97E9-C026090998B9}"/>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Local data, original figures and analysis code</a:t>
            </a:r>
          </a:p>
        </p:txBody>
      </p:sp>
      <p:sp>
        <p:nvSpPr>
          <p:cNvPr id="4" name="">
            <a:extLst xmlns:a="http://schemas.openxmlformats.org/drawingml/2006/main">
              <a:ext uri="{FF2B5EF4-FFF2-40B4-BE49-F238E27FC236}">
                <a16:creationId xmlns:a16="http://schemas.microsoft.com/office/drawing/2014/main" id="{7839E36B-938D-4655-99F2-DFCB44585F78}"/>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2C4E46E3-4CFF-414D-BA66-44BBC4D5FBEF}"/>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Full source paths and slide-specific methods are recorded in speaker notes.</a:t>
            </a:r>
          </a:p>
        </p:txBody>
      </p:sp>
      <p:sp>
        <p:nvSpPr>
          <p:cNvPr id="6" name="">
            <a:extLst xmlns:a="http://schemas.openxmlformats.org/drawingml/2006/main">
              <a:ext uri="{FF2B5EF4-FFF2-40B4-BE49-F238E27FC236}">
                <a16:creationId xmlns:a16="http://schemas.microsoft.com/office/drawing/2014/main" id="{283F0C46-4B83-47B5-89C2-47DB5373DB4A}"/>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22</a:t>
            </a:r>
          </a:p>
        </p:txBody>
      </p:sp>
      <p:graphicFrame>
        <p:nvGraphicFramePr>
          <p:cNvPr id="7" name="">
            <a:extLst xmlns:a="http://schemas.openxmlformats.org/drawingml/2006/main">
              <a:ext uri="{FF2B5EF4-FFF2-40B4-BE49-F238E27FC236}">
                <a16:creationId xmlns:a16="http://schemas.microsoft.com/office/drawing/2014/main" id="{C2E7DC3F-FCD1-4634-940D-12569BF2348A}"/>
              </a:ext>
            </a:extLst>
          </p:cNvPr>
          <p:cNvGraphicFramePr/>
          <p:nvPr/>
        </p:nvGraphicFramePr>
        <p:xfrm>
          <a:off xmlns:a="http://schemas.openxmlformats.org/drawingml/2006/main" x="571500" y="1952625"/>
          <a:ext xmlns:a="http://schemas.openxmlformats.org/drawingml/2006/main" cx="11049000" cy="3733800"/>
        </p:xfrm>
        <a:graphic xmlns:a="http://schemas.openxmlformats.org/drawingml/2006/main">
          <a:graphicData uri="http://schemas.openxmlformats.org/drawingml/2006/table">
            <a:tbl>
              <a:tblPr/>
              <a:tblGrid>
                <a:gridCol w="5410200"/>
                <a:gridCol w="5638800"/>
              </a:tblGrid>
              <a:tr h="533400">
                <a:tc>
                  <a:txBody>
                    <a:bodyPr/>
                    <a:lstStyle/>
                    <a:p>
                      <a:r>
                        <a:rPr sz="1650" b="1">
                          <a:solidFill>
                            <a:srgbClr val="FFFFFF"/>
                          </a:solidFill>
                          <a:latin typeface="Arial"/>
                          <a:ea typeface="Arial"/>
                          <a:cs typeface="Arial"/>
                        </a:rPr>
                        <a:t>Source</a:t>
                      </a:r>
                    </a:p>
                  </a:txBody>
                  <a:tcPr marL="133350" marR="114300" marT="114300" marB="95250" anchor="ctr">
                    <a:solidFill>
                      <a:srgbClr val="182B3A"/>
                    </a:solidFill>
                  </a:tcPr>
                </a:tc>
                <a:tc>
                  <a:txBody>
                    <a:bodyPr/>
                    <a:lstStyle/>
                    <a:p>
                      <a:r>
                        <a:rPr sz="1650" b="1">
                          <a:solidFill>
                            <a:srgbClr val="FFFFFF"/>
                          </a:solidFill>
                          <a:latin typeface="Arial"/>
                          <a:ea typeface="Arial"/>
                          <a:cs typeface="Arial"/>
                        </a:rPr>
                        <a:t>Role in this presentation</a:t>
                      </a:r>
                    </a:p>
                  </a:txBody>
                  <a:tcPr marL="133350" marR="114300" marT="114300" marB="95250" anchor="ctr">
                    <a:solidFill>
                      <a:srgbClr val="182B3A"/>
                    </a:solidFill>
                  </a:tcPr>
                </a:tc>
              </a:tr>
              <a:tr h="533400">
                <a:tc>
                  <a:txBody>
                    <a:bodyPr/>
                    <a:lstStyle/>
                    <a:p>
                      <a:r>
                        <a:rPr sz="1650">
                          <a:solidFill>
                            <a:srgbClr val="182B3A"/>
                          </a:solidFill>
                          <a:latin typeface="Arial"/>
                          <a:ea typeface="Arial"/>
                          <a:cs typeface="Arial"/>
                        </a:rPr>
                        <a:t>Chrimson Data(Included) (3).csv</a:t>
                      </a:r>
                    </a:p>
                  </a:txBody>
                  <a:tcPr marL="133350" marR="114300" marT="114300" marB="95250" anchor="ctr">
                    <a:solidFill>
                      <a:srgbClr val="FFFFFF"/>
                    </a:solidFill>
                  </a:tcPr>
                </a:tc>
                <a:tc>
                  <a:txBody>
                    <a:bodyPr/>
                    <a:lstStyle/>
                    <a:p>
                      <a:r>
                        <a:rPr sz="1650">
                          <a:solidFill>
                            <a:srgbClr val="182B3A"/>
                          </a:solidFill>
                          <a:latin typeface="Arial"/>
                          <a:ea typeface="Arial"/>
                          <a:cs typeface="Arial"/>
                        </a:rPr>
                        <a:t>84 archived fly summaries</a:t>
                      </a:r>
                    </a:p>
                  </a:txBody>
                  <a:tcPr marL="133350" marR="114300" marT="114300" marB="95250" anchor="ctr">
                    <a:solidFill>
                      <a:srgbClr val="FFFFFF"/>
                    </a:solidFill>
                  </a:tcPr>
                </a:tc>
              </a:tr>
              <a:tr h="533400">
                <a:tc>
                  <a:txBody>
                    <a:bodyPr/>
                    <a:lstStyle/>
                    <a:p>
                      <a:r>
                        <a:rPr sz="1650">
                          <a:solidFill>
                            <a:srgbClr val="182B3A"/>
                          </a:solidFill>
                          <a:latin typeface="Arial"/>
                          <a:ea typeface="Arial"/>
                          <a:cs typeface="Arial"/>
                        </a:rPr>
                        <a:t>presentation_metrics.csv</a:t>
                      </a:r>
                    </a:p>
                  </a:txBody>
                  <a:tcPr marL="133350" marR="114300" marT="114300" marB="95250" anchor="ctr">
                    <a:solidFill>
                      <a:srgbClr val="FFFFFF"/>
                    </a:solidFill>
                  </a:tcPr>
                </a:tc>
                <a:tc>
                  <a:txBody>
                    <a:bodyPr/>
                    <a:lstStyle/>
                    <a:p>
                      <a:r>
                        <a:rPr sz="1650">
                          <a:solidFill>
                            <a:srgbClr val="182B3A"/>
                          </a:solidFill>
                          <a:latin typeface="Arial"/>
                          <a:ea typeface="Arial"/>
                          <a:cs typeface="Arial"/>
                        </a:rPr>
                        <a:t>81 flies; 6,480 exported stimulation windows</a:t>
                      </a:r>
                    </a:p>
                  </a:txBody>
                  <a:tcPr marL="133350" marR="114300" marT="114300" marB="95250" anchor="ctr">
                    <a:solidFill>
                      <a:srgbClr val="FFFFFF"/>
                    </a:solidFill>
                  </a:tcPr>
                </a:tc>
              </a:tr>
              <a:tr h="533400">
                <a:tc>
                  <a:txBody>
                    <a:bodyPr/>
                    <a:lstStyle/>
                    <a:p>
                      <a:r>
                        <a:rPr sz="1650">
                          <a:solidFill>
                            <a:srgbClr val="182B3A"/>
                          </a:solidFill>
                          <a:latin typeface="Arial"/>
                          <a:ea typeface="Arial"/>
                          <a:cs typeface="Arial"/>
                        </a:rPr>
                        <a:t>labmeeting_9.pptx</a:t>
                      </a:r>
                    </a:p>
                  </a:txBody>
                  <a:tcPr marL="133350" marR="114300" marT="114300" marB="95250" anchor="ctr">
                    <a:solidFill>
                      <a:srgbClr val="FFFFFF"/>
                    </a:solidFill>
                  </a:tcPr>
                </a:tc>
                <a:tc>
                  <a:txBody>
                    <a:bodyPr/>
                    <a:lstStyle/>
                    <a:p>
                      <a:r>
                        <a:rPr sz="1650">
                          <a:solidFill>
                            <a:srgbClr val="182B3A"/>
                          </a:solidFill>
                          <a:latin typeface="Arial"/>
                          <a:ea typeface="Arial"/>
                          <a:cs typeface="Arial"/>
                        </a:rPr>
                        <a:t>Later protocol, schematic and original path examples</a:t>
                      </a:r>
                    </a:p>
                  </a:txBody>
                  <a:tcPr marL="133350" marR="114300" marT="114300" marB="95250" anchor="ctr">
                    <a:solidFill>
                      <a:srgbClr val="FFFFFF"/>
                    </a:solidFill>
                  </a:tcPr>
                </a:tc>
              </a:tr>
              <a:tr h="533400">
                <a:tc>
                  <a:txBody>
                    <a:bodyPr/>
                    <a:lstStyle/>
                    <a:p>
                      <a:r>
                        <a:rPr sz="1650">
                          <a:solidFill>
                            <a:srgbClr val="182B3A"/>
                          </a:solidFill>
                          <a:latin typeface="Arial"/>
                          <a:ea typeface="Arial"/>
                          <a:cs typeface="Arial"/>
                        </a:rPr>
                        <a:t>Blinded_csChrim_behavior.pptx</a:t>
                      </a:r>
                    </a:p>
                  </a:txBody>
                  <a:tcPr marL="133350" marR="114300" marT="114300" marB="95250" anchor="ctr">
                    <a:solidFill>
                      <a:srgbClr val="FFFFFF"/>
                    </a:solidFill>
                  </a:tcPr>
                </a:tc>
                <a:tc>
                  <a:txBody>
                    <a:bodyPr/>
                    <a:lstStyle/>
                    <a:p>
                      <a:r>
                        <a:rPr sz="1650">
                          <a:solidFill>
                            <a:srgbClr val="182B3A"/>
                          </a:solidFill>
                          <a:latin typeface="Arial"/>
                          <a:ea typeface="Arial"/>
                          <a:cs typeface="Arial"/>
                        </a:rPr>
                        <a:t>Cohort labels and individual-fly source context</a:t>
                      </a:r>
                    </a:p>
                  </a:txBody>
                  <a:tcPr marL="133350" marR="114300" marT="114300" marB="95250" anchor="ctr">
                    <a:solidFill>
                      <a:srgbClr val="FFFFFF"/>
                    </a:solidFill>
                  </a:tcPr>
                </a:tc>
              </a:tr>
              <a:tr h="533400">
                <a:tc>
                  <a:txBody>
                    <a:bodyPr/>
                    <a:lstStyle/>
                    <a:p>
                      <a:r>
                        <a:rPr sz="1650">
                          <a:solidFill>
                            <a:srgbClr val="182B3A"/>
                          </a:solidFill>
                          <a:latin typeface="Arial"/>
                          <a:ea typeface="Arial"/>
                          <a:cs typeface="Arial"/>
                        </a:rPr>
                        <a:t>labmeeting8_20260306.pptx</a:t>
                      </a:r>
                    </a:p>
                  </a:txBody>
                  <a:tcPr marL="133350" marR="114300" marT="114300" marB="95250" anchor="ctr">
                    <a:solidFill>
                      <a:srgbClr val="FFFFFF"/>
                    </a:solidFill>
                  </a:tcPr>
                </a:tc>
                <a:tc>
                  <a:txBody>
                    <a:bodyPr/>
                    <a:lstStyle/>
                    <a:p>
                      <a:r>
                        <a:rPr sz="1650">
                          <a:solidFill>
                            <a:srgbClr val="182B3A"/>
                          </a:solidFill>
                          <a:latin typeface="Arial"/>
                          <a:ea typeface="Arial"/>
                          <a:cs typeface="Arial"/>
                        </a:rPr>
                        <a:t>Earlier pilot protocol and startle context</a:t>
                      </a:r>
                    </a:p>
                  </a:txBody>
                  <a:tcPr marL="133350" marR="114300" marT="114300" marB="95250" anchor="ctr">
                    <a:solidFill>
                      <a:srgbClr val="FFFFFF"/>
                    </a:solidFill>
                  </a:tcPr>
                </a:tc>
              </a:tr>
              <a:tr h="533400">
                <a:tc>
                  <a:txBody>
                    <a:bodyPr/>
                    <a:lstStyle/>
                    <a:p>
                      <a:r>
                        <a:rPr sz="1650">
                          <a:solidFill>
                            <a:srgbClr val="182B3A"/>
                          </a:solidFill>
                          <a:latin typeface="Arial"/>
                          <a:ea typeface="Arial"/>
                          <a:cs typeface="Arial"/>
                        </a:rPr>
                        <a:t>R / MATLAB / Python source scripts</a:t>
                      </a:r>
                    </a:p>
                  </a:txBody>
                  <a:tcPr marL="133350" marR="114300" marT="114300" marB="95250" anchor="ctr">
                    <a:solidFill>
                      <a:srgbClr val="FFFFFF"/>
                    </a:solidFill>
                  </a:tcPr>
                </a:tc>
                <a:tc>
                  <a:txBody>
                    <a:bodyPr/>
                    <a:lstStyle/>
                    <a:p>
                      <a:r>
                        <a:rPr sz="1650">
                          <a:solidFill>
                            <a:srgbClr val="182B3A"/>
                          </a:solidFill>
                          <a:latin typeface="Arial"/>
                          <a:ea typeface="Arial"/>
                          <a:cs typeface="Arial"/>
                        </a:rPr>
                        <a:t>Genotype mapping and metric definitions</a:t>
                      </a:r>
                    </a:p>
                  </a:txBody>
                  <a:tcPr marL="133350" marR="114300" marT="114300" marB="9525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EB89C523-6846-429A-BE32-C410C19D291C}"/>
              </a:ext>
            </a:extLst>
          </p:cNvPr>
          <p:cNvSpPr>
            <a:spLocks xmlns:a="http://schemas.openxmlformats.org/drawingml/2006/main" noGrp="1"/>
          </p:cNvSpPr>
          <p:nvPr/>
        </p:nvSpPr>
        <p:spPr>
          <a:xfrm xmlns:a="http://schemas.openxmlformats.org/drawingml/2006/main">
            <a:off x="619125" y="6076950"/>
            <a:ext cx="10839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86776"/>
                </a:solidFill>
                <a:latin typeface="Arial"/>
                <a:ea typeface="Arial"/>
                <a:cs typeface="Arial"/>
              </a:defRPr>
            </a:defPPr>
          </a:lstStyle>
          <a:p xmlns:a="http://schemas.openxmlformats.org/drawingml/2006/main">
            <a:pPr>
              <a:defRPr sz="1500" b="0">
                <a:solidFill>
                  <a:srgbClr val="586776"/>
                </a:solidFill>
                <a:latin typeface="Arial"/>
                <a:ea typeface="Arial"/>
                <a:cs typeface="Arial"/>
              </a:defRPr>
            </a:pPr>
            <a:r>
              <a:rPr sz="1500" b="0">
                <a:solidFill>
                  <a:srgbClr val="586776"/>
                </a:solidFill>
                <a:latin typeface="Arial"/>
                <a:ea typeface="Arial"/>
                <a:cs typeface="Arial"/>
              </a:rPr>
              <a:t>No synthetic observations or reconstructed raw traces are included.</a:t>
            </a:r>
          </a:p>
        </p:txBody>
      </p:sp>
    </p:spTree>
    <p:extLst>
      <p:ext uri="{BB962C8B-B14F-4D97-AF65-F5344CB8AC3E}">
        <p14:creationId xmlns:p14="http://schemas.microsoft.com/office/powerpoint/2010/main" val="16148299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2026-10-13T22:39:34.7630000Z</dcterms:created>
  <dcterms:modified xsi:type="dcterms:W3CDTF">2026-10-13T22:39:34.7630000Z</dcterms:modified>
</coreProperties>
</file>