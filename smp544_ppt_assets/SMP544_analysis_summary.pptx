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1" r:id="rId7"/>
    <p:sldId id="265" r:id="rId8"/>
    <p:sldId id="263" r:id="rId9"/>
    <p:sldId id="260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89"/>
    <p:restoredTop sz="94744"/>
  </p:normalViewPr>
  <p:slideViewPr>
    <p:cSldViewPr snapToGrid="0">
      <p:cViewPr>
        <p:scale>
          <a:sx n="116" d="100"/>
          <a:sy n="116" d="100"/>
        </p:scale>
        <p:origin x="55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9573C-5DAB-6BEB-7045-37C018257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88D16-D552-B45B-AC5E-EF37A86CF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B4810-4D6A-1593-08B4-C24B9C513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94288-0488-EDC2-37C7-573F00015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0079F-8729-3040-6054-6D63D1E89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9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BD343-1C90-DE08-851A-E8DCE74C2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C6FAA-719A-AE63-06BF-F7FE7C6F3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33E0F-5867-AE27-91E2-BEF0BA133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E50C3-DA87-3C19-F6D6-72D456C7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6615A-E25F-6A86-239A-A2BA11402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3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A69C-F23F-A5F0-D3BC-E64A11406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62C34-EDE7-369A-3239-C8285C367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C4360-36C4-238F-16C9-3519A5661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1205E-2A43-9036-ED5F-C3CE2529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1ACD1-1B9D-B504-A454-495AEB4C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68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DC89-3A8E-5FBD-5DB8-68FAD4433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5336B-1B56-2C94-02C0-0116D4C6F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ADBFC-8496-902D-D5A6-A0CA2C652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BD8E1-6F35-AF92-7E9B-1C1C64DF3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CDB42-1CCC-B8F3-E67B-3A0114A5E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02808-9BE6-AA74-AA19-7A0139A4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3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FDA4C-C155-A20F-520D-DB8C8D36B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0BCB0-E713-7C2B-9291-88B8858AE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38244-A361-DC1B-D54B-6A1CA3F5F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51B08-2E28-CE69-8ECE-DB4F0ABEA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899BF8-7FEA-8698-3297-103139BAF6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8589AE-6454-1E41-9B64-06A2CC2D2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326620-041F-889C-9275-C4DE7E685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13EF6F-637B-688B-6EE6-96E30A850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D82B6-F762-584D-0D65-B1EA64009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2CDB11-F399-6978-8663-BD75B9C4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F6A6F-4A70-C778-ABF5-23BD6AE9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CFE9B-13E4-4EE7-D709-A34BDE5A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6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DB89F4-7637-9BAB-6344-426504001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5244B-F697-9BB8-1ED2-81491913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D1800-C087-0C62-2FD4-AD16E795E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7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2AB6-1DC3-A636-BC2E-B73739EDB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69C69-1132-0424-C4B7-392CEF7AF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F6E01-24F3-8807-51FC-B169C09AE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14155-0B2E-315E-2DFD-3322917A4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29F47-7C53-CBFF-6F67-D79375F23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5F4DB-5EBB-50FE-A79E-64464B899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15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DCD2-5C7B-248E-6110-9CCA869A6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7B7BE1-F665-99D7-9683-3F4AD3602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F7D97-C635-65A0-2AC8-EEAD46454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6503A-149E-61BC-C394-EB7F7A7D4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1FEE6-85F5-1706-BA43-9147185ED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9B8BC-0938-D362-F9B1-51411427E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1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339D-9BB6-AFBA-E436-0383B041D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AE1A8-8A01-24FB-EED3-1CD6079A8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65D1-2163-A15A-3308-C656FAD0F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6FBF1-1259-14F2-6299-3246C5A30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98CA9-CF65-05A5-D8FC-6BA66CFE2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6FD50-9130-2E13-5EC2-1F49C61C1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873EF-B060-7D55-2022-0B3AF6E27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AC3A6-D54E-2687-E4C8-EB1C74B01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05CD-30B7-C440-B567-06235F5E5228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FFEE5-B5F2-930F-B155-7F9B3382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B5626-403F-0D88-4EA7-58CD06A0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7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9FDCE-8C8E-DCD9-51AB-C7CB2D118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E3AC3-7BB7-E88B-0BCA-AFBCA3470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8E43A-FF2D-0B95-ADC7-3BC3D8C3F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E05CD-30B7-C440-B567-06235F5E5228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68A5C-5992-B735-B6E7-80F92592F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16BE4-F7A2-D012-5FEF-F689D7575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1514C-5CE0-6442-926E-B76B776D1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20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A64A0-BF42-005F-9198-5900494430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SMP544 activity across heat &amp; no heat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E1C79-137C-ADED-9778-5EEF3D33B6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Imaging summary 8.2026</a:t>
            </a:r>
          </a:p>
        </p:txBody>
      </p:sp>
    </p:spTree>
    <p:extLst>
      <p:ext uri="{BB962C8B-B14F-4D97-AF65-F5344CB8AC3E}">
        <p14:creationId xmlns:p14="http://schemas.microsoft.com/office/powerpoint/2010/main" val="3869265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04F3B-1580-9CF1-CCB3-29B31C92B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SMP544 is recruited by locomotion and heat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6E15B-00D0-110B-F44E-E8EF1152B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R &amp; L copies have similar properties</a:t>
            </a:r>
          </a:p>
          <a:p>
            <a:r>
              <a:rPr lang="en-US" dirty="0"/>
              <a:t>+ response to heat</a:t>
            </a:r>
          </a:p>
          <a:p>
            <a:r>
              <a:rPr lang="en-US" dirty="0"/>
              <a:t>Pivoting often coincides with inhibition</a:t>
            </a:r>
          </a:p>
          <a:p>
            <a:r>
              <a:rPr lang="en-US" dirty="0"/>
              <a:t>Many trials have low SNR/motion artifacts</a:t>
            </a:r>
          </a:p>
          <a:p>
            <a:r>
              <a:rPr lang="en-US" dirty="0"/>
              <a:t>Somewhat similar to what we might have expected, though more needed.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785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B1AA59-3A5D-AD05-422A-3BFA6F763446}"/>
              </a:ext>
            </a:extLst>
          </p:cNvPr>
          <p:cNvSpPr txBox="1"/>
          <p:nvPr/>
        </p:nvSpPr>
        <p:spPr>
          <a:xfrm>
            <a:off x="406400" y="228600"/>
            <a:ext cx="11379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 dirty="0">
                <a:latin typeface="Aptos Display" panose="020B0004020202020204" pitchFamily="34" charset="0"/>
              </a:rPr>
              <a:t>20260720-3 | dark fly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46F8B1-5DBD-EC0A-BA20-08678A30E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9505" y="0"/>
            <a:ext cx="2922495" cy="21918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7C1445-9618-DFED-1920-8F8F9DAF5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010" y="-1"/>
            <a:ext cx="2922495" cy="2191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B4A232-7948-2FFE-5FB3-581814BC9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704" y="2271529"/>
            <a:ext cx="6385601" cy="47892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DDCA1A-DB33-62FA-E304-086AF28567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90374"/>
            <a:ext cx="6524756" cy="489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77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7C7CE4-2426-BCAA-4382-111A3CD73C56}"/>
              </a:ext>
            </a:extLst>
          </p:cNvPr>
          <p:cNvSpPr txBox="1"/>
          <p:nvPr/>
        </p:nvSpPr>
        <p:spPr>
          <a:xfrm>
            <a:off x="406400" y="228600"/>
            <a:ext cx="11379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latin typeface="Aptos Display" panose="020B0004020202020204" pitchFamily="34" charset="0"/>
              </a:rPr>
              <a:t>20260720-4 | dark fly 2, volume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77F5CD-16E7-47C8-F256-456D40795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34" y="914401"/>
            <a:ext cx="7112000" cy="533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97DD19-AC3D-55AF-3FD2-77A943F74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755" y="0"/>
            <a:ext cx="3148778" cy="23615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EF8639-33B5-1981-D235-3D6C06997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222" y="-21795"/>
            <a:ext cx="3148778" cy="23615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99276C-395D-1D31-4DE5-046F11587B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241138"/>
            <a:ext cx="6072197" cy="455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829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BBBD7B-F556-80AB-FA18-4660BCC9543E}"/>
              </a:ext>
            </a:extLst>
          </p:cNvPr>
          <p:cNvSpPr txBox="1"/>
          <p:nvPr/>
        </p:nvSpPr>
        <p:spPr>
          <a:xfrm>
            <a:off x="406400" y="228600"/>
            <a:ext cx="11379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latin typeface="Aptos Display" panose="020B0004020202020204" pitchFamily="34" charset="0"/>
              </a:rPr>
              <a:t>20260722-2 | closed-loop bar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1DE1C0-4AA3-9AE6-85A3-5713C0BFC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145" y="1143000"/>
            <a:ext cx="6273800" cy="47053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2BD049-7E45-C578-01FD-ED4430DD5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0"/>
            <a:ext cx="7112000" cy="5334000"/>
          </a:xfrm>
          <a:prstGeom prst="rect">
            <a:avLst/>
          </a:prstGeom>
        </p:spPr>
      </p:pic>
      <p:pic>
        <p:nvPicPr>
          <p:cNvPr id="13" name="Picture 12" descr="Image preview">
            <a:extLst>
              <a:ext uri="{FF2B5EF4-FFF2-40B4-BE49-F238E27FC236}">
                <a16:creationId xmlns:a16="http://schemas.microsoft.com/office/drawing/2014/main" id="{8FD1066B-42F4-5865-D3A9-ABF174E64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61" y="1143000"/>
            <a:ext cx="62738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15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16F94E-AFA8-01CD-B414-3B203275B77F}"/>
              </a:ext>
            </a:extLst>
          </p:cNvPr>
          <p:cNvSpPr txBox="1"/>
          <p:nvPr/>
        </p:nvSpPr>
        <p:spPr>
          <a:xfrm>
            <a:off x="406400" y="228600"/>
            <a:ext cx="11379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latin typeface="Aptos Display" panose="020B0004020202020204" pitchFamily="34" charset="0"/>
              </a:rPr>
              <a:t>20260721-2 | closed-loop bar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BAD7E2-38E0-7A49-E1D0-D2B6ADFCC34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8400"/>
            <a:ext cx="6562165" cy="546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188721-A2BE-7893-03E1-2C99B5446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953" y="4481"/>
            <a:ext cx="3036047" cy="22770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26A60A-E8DE-4D21-599B-69C3C14A2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327" y="4482"/>
            <a:ext cx="3036047" cy="22770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54F2D6-61FA-4697-C244-79350FAA9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423" y="2505634"/>
            <a:ext cx="5226424" cy="39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29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247B30-BCFA-BEDE-5892-EDB39A60F182}"/>
              </a:ext>
            </a:extLst>
          </p:cNvPr>
          <p:cNvSpPr txBox="1"/>
          <p:nvPr/>
        </p:nvSpPr>
        <p:spPr>
          <a:xfrm>
            <a:off x="406400" y="228600"/>
            <a:ext cx="11379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latin typeface="Aptos Display" panose="020B0004020202020204" pitchFamily="34" charset="0"/>
              </a:rPr>
              <a:t>20260722-3 | open-loop heat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990214-295A-1275-9E70-6FA2BDF48D4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952500"/>
            <a:ext cx="8255000" cy="546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9D55A8-383B-6861-B366-B7D2ED78130D}"/>
              </a:ext>
            </a:extLst>
          </p:cNvPr>
          <p:cNvSpPr txBox="1"/>
          <p:nvPr/>
        </p:nvSpPr>
        <p:spPr>
          <a:xfrm>
            <a:off x="9017000" y="1143000"/>
            <a:ext cx="2730500" cy="32316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latin typeface="Aptos" panose="020B0004020202020204" pitchFamily="34" charset="0"/>
              </a:rPr>
              <a:t>Strongest bilateral heat trial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Moving: 20.2%
</a:t>
            </a:r>
          </a:p>
          <a:p>
            <a:r>
              <a:rPr lang="en-US" sz="1700">
                <a:latin typeface="Aptos" panose="020B0004020202020204" pitchFamily="34" charset="0"/>
              </a:rPr>
              <a:t>Right-left r: 0.80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Heat and vigorous movement coincide with high bilateral activity.</a:t>
            </a:r>
          </a:p>
        </p:txBody>
      </p:sp>
    </p:spTree>
    <p:extLst>
      <p:ext uri="{BB962C8B-B14F-4D97-AF65-F5344CB8AC3E}">
        <p14:creationId xmlns:p14="http://schemas.microsoft.com/office/powerpoint/2010/main" val="259956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C1AE6-CC43-08C2-BC4E-42ED13CFF7C1}"/>
              </a:ext>
            </a:extLst>
          </p:cNvPr>
          <p:cNvSpPr txBox="1"/>
          <p:nvPr/>
        </p:nvSpPr>
        <p:spPr>
          <a:xfrm>
            <a:off x="406400" y="228600"/>
            <a:ext cx="11379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latin typeface="Aptos Display" panose="020B0004020202020204" pitchFamily="34" charset="0"/>
              </a:rPr>
              <a:t>20260721-4 | open-loop heat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05DC7E-DA71-B858-4E34-8B1FE3F961D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952500"/>
            <a:ext cx="8255000" cy="546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3F247D-AECA-EB34-11B4-F9B9843C6889}"/>
              </a:ext>
            </a:extLst>
          </p:cNvPr>
          <p:cNvSpPr txBox="1"/>
          <p:nvPr/>
        </p:nvSpPr>
        <p:spPr>
          <a:xfrm>
            <a:off x="9017000" y="1143000"/>
            <a:ext cx="2730500" cy="29700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 dirty="0">
                <a:latin typeface="Aptos" panose="020B0004020202020204" pitchFamily="34" charset="0"/>
              </a:rPr>
              <a:t>Strong heat-associated elevation
</a:t>
            </a:r>
          </a:p>
          <a:p>
            <a:endParaRPr lang="en-US" sz="1700" dirty="0">
              <a:latin typeface="Aptos" panose="020B0004020202020204" pitchFamily="34" charset="0"/>
            </a:endParaRPr>
          </a:p>
          <a:p>
            <a:r>
              <a:rPr lang="en-US" sz="1700" dirty="0">
                <a:latin typeface="Aptos" panose="020B0004020202020204" pitchFamily="34" charset="0"/>
              </a:rPr>
              <a:t>Moving: 37.4%
</a:t>
            </a:r>
          </a:p>
          <a:p>
            <a:r>
              <a:rPr lang="en-US" sz="1700" dirty="0">
                <a:latin typeface="Aptos" panose="020B0004020202020204" pitchFamily="34" charset="0"/>
              </a:rPr>
              <a:t>Heat: 15.0% of samples
</a:t>
            </a:r>
          </a:p>
          <a:p>
            <a:endParaRPr lang="en-US" sz="1700" dirty="0">
              <a:latin typeface="Aptos" panose="020B0004020202020204" pitchFamily="34" charset="0"/>
            </a:endParaRPr>
          </a:p>
          <a:p>
            <a:r>
              <a:rPr lang="en-US" sz="1700" dirty="0">
                <a:latin typeface="Aptos" panose="020B0004020202020204" pitchFamily="34" charset="0"/>
              </a:rPr>
              <a:t>Mean </a:t>
            </a:r>
            <a:r>
              <a:rPr lang="en-US" sz="1700" dirty="0" err="1">
                <a:latin typeface="Aptos" panose="020B0004020202020204" pitchFamily="34" charset="0"/>
              </a:rPr>
              <a:t>dF</a:t>
            </a:r>
            <a:r>
              <a:rPr lang="en-US" sz="1700" dirty="0">
                <a:latin typeface="Aptos" panose="020B0004020202020204" pitchFamily="34" charset="0"/>
              </a:rPr>
              <a:t>/F rises bilaterally during heat</a:t>
            </a:r>
          </a:p>
        </p:txBody>
      </p:sp>
    </p:spTree>
    <p:extLst>
      <p:ext uri="{BB962C8B-B14F-4D97-AF65-F5344CB8AC3E}">
        <p14:creationId xmlns:p14="http://schemas.microsoft.com/office/powerpoint/2010/main" val="300257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37A16B-30A1-9A09-34CD-249A37CCC113}"/>
              </a:ext>
            </a:extLst>
          </p:cNvPr>
          <p:cNvSpPr txBox="1"/>
          <p:nvPr/>
        </p:nvSpPr>
        <p:spPr>
          <a:xfrm>
            <a:off x="406400" y="228600"/>
            <a:ext cx="11379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latin typeface="Aptos Display" panose="020B0004020202020204" pitchFamily="34" charset="0"/>
              </a:rPr>
              <a:t>20260720-5 | heat barrier, repaired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F5191D-898F-153F-8681-92A9B59A4DF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952500"/>
            <a:ext cx="8255000" cy="546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EBA431-69E8-0116-3928-105B591D0987}"/>
              </a:ext>
            </a:extLst>
          </p:cNvPr>
          <p:cNvSpPr txBox="1"/>
          <p:nvPr/>
        </p:nvSpPr>
        <p:spPr>
          <a:xfrm>
            <a:off x="9017000" y="1143000"/>
            <a:ext cx="2730500" cy="29700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latin typeface="Aptos" panose="020B0004020202020204" pitchFamily="34" charset="0"/>
              </a:rPr>
              <a:t>First 3,555 synchronized volumes only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Imaging was cropped to the DAQ interval.
</a:t>
            </a:r>
          </a:p>
          <a:p>
            <a:endParaRPr lang="en-US" sz="1700">
              <a:latin typeface="Aptos" panose="020B0004020202020204" pitchFamily="34" charset="0"/>
            </a:endParaRPr>
          </a:p>
          <a:p>
            <a:r>
              <a:rPr lang="en-US" sz="1700">
                <a:latin typeface="Aptos" panose="020B0004020202020204" pitchFamily="34" charset="0"/>
              </a:rPr>
              <a:t>Heat-active path is analyzable without extrapolating behavior.</a:t>
            </a:r>
          </a:p>
        </p:txBody>
      </p:sp>
    </p:spTree>
    <p:extLst>
      <p:ext uri="{BB962C8B-B14F-4D97-AF65-F5344CB8AC3E}">
        <p14:creationId xmlns:p14="http://schemas.microsoft.com/office/powerpoint/2010/main" val="2645772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80FFA2-E387-997F-0904-A324ADC4F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2" y="1303583"/>
            <a:ext cx="5667777" cy="42508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CFDEE5-8A7F-C938-38C6-A11D984D9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703" y="1303583"/>
            <a:ext cx="5478365" cy="40580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E31C71-DF0B-A7F3-B687-831F309F0819}"/>
              </a:ext>
            </a:extLst>
          </p:cNvPr>
          <p:cNvSpPr txBox="1"/>
          <p:nvPr/>
        </p:nvSpPr>
        <p:spPr>
          <a:xfrm>
            <a:off x="763929" y="451413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SMP544</a:t>
            </a:r>
          </a:p>
        </p:txBody>
      </p:sp>
    </p:spTree>
    <p:extLst>
      <p:ext uri="{BB962C8B-B14F-4D97-AF65-F5344CB8AC3E}">
        <p14:creationId xmlns:p14="http://schemas.microsoft.com/office/powerpoint/2010/main" val="959204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66CB5A-D217-61AE-C9D7-575C0389A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6273800" cy="4705350"/>
          </a:xfrm>
          <a:prstGeom prst="rect">
            <a:avLst/>
          </a:prstGeom>
        </p:spPr>
      </p:pic>
      <p:pic>
        <p:nvPicPr>
          <p:cNvPr id="3" name="Picture 2" descr="Image preview">
            <a:extLst>
              <a:ext uri="{FF2B5EF4-FFF2-40B4-BE49-F238E27FC236}">
                <a16:creationId xmlns:a16="http://schemas.microsoft.com/office/drawing/2014/main" id="{E3DC114F-FF72-71A7-0BA8-360B7AAD7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200" y="1276350"/>
            <a:ext cx="6273800" cy="457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EFAAB7-643A-5CF5-BDDC-5E1C7905FBCF}"/>
              </a:ext>
            </a:extLst>
          </p:cNvPr>
          <p:cNvSpPr txBox="1"/>
          <p:nvPr/>
        </p:nvSpPr>
        <p:spPr>
          <a:xfrm>
            <a:off x="694481" y="439838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SMP544</a:t>
            </a:r>
          </a:p>
        </p:txBody>
      </p:sp>
    </p:spTree>
    <p:extLst>
      <p:ext uri="{BB962C8B-B14F-4D97-AF65-F5344CB8AC3E}">
        <p14:creationId xmlns:p14="http://schemas.microsoft.com/office/powerpoint/2010/main" val="2322584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959D3B-E648-5296-CDCB-1EB8E3CCF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32" y="1280931"/>
            <a:ext cx="5697316" cy="4272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D57A1A-EAAC-92D8-E2F2-D9DE70D8B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152" y="1292506"/>
            <a:ext cx="5697316" cy="4272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2084D2-9FC6-6074-D26D-3E6C0AC1F63E}"/>
              </a:ext>
            </a:extLst>
          </p:cNvPr>
          <p:cNvSpPr txBox="1"/>
          <p:nvPr/>
        </p:nvSpPr>
        <p:spPr>
          <a:xfrm>
            <a:off x="936434" y="683046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VES041</a:t>
            </a:r>
          </a:p>
        </p:txBody>
      </p:sp>
    </p:spTree>
    <p:extLst>
      <p:ext uri="{BB962C8B-B14F-4D97-AF65-F5344CB8AC3E}">
        <p14:creationId xmlns:p14="http://schemas.microsoft.com/office/powerpoint/2010/main" val="108914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3BF6BD-CBDC-E064-984C-2D98C560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342" y="1362878"/>
            <a:ext cx="5509658" cy="41322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ACE6DF-1661-E36F-7769-8588FCA0D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482" y="1362878"/>
            <a:ext cx="5509658" cy="413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786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BB21C5-EEE0-C52A-24D9-580292A51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296" y="1221036"/>
            <a:ext cx="5887903" cy="44159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8B6C68-AF1A-45DD-FA58-BDD9BEF21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1036"/>
            <a:ext cx="5887903" cy="441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04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10360</TotalTime>
  <Words>163</Words>
  <Application>Microsoft Macintosh PowerPoint</Application>
  <PresentationFormat>Widescreen</PresentationFormat>
  <Paragraphs>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SMP544 activity across heat &amp; no heat</vt:lpstr>
      <vt:lpstr>SMP544 is recruited by locomotion and heat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Renauld, Sophia</dc:creator>
  <cp:lastModifiedBy>Renauld, Sophia</cp:lastModifiedBy>
  <cp:revision>15</cp:revision>
  <dcterms:created xsi:type="dcterms:W3CDTF">2026-08-27T16:48:08Z</dcterms:created>
  <dcterms:modified xsi:type="dcterms:W3CDTF">2026-09-06T15:36:55Z</dcterms:modified>
</cp:coreProperties>
</file>