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94744"/>
  </p:normalViewPr>
  <p:slideViewPr>
    <p:cSldViewPr snapToGrid="0">
      <p:cViewPr varScale="1">
        <p:scale>
          <a:sx n="119" d="100"/>
          <a:sy n="119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573C-5DAB-6BEB-7045-37C018257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8D16-D552-B45B-AC5E-EF37A86CF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B4810-4D6A-1593-08B4-C24B9C51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94288-0488-EDC2-37C7-573F0001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079F-8729-3040-6054-6D63D1E8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D343-1C90-DE08-851A-E8DCE74C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6FAA-719A-AE63-06BF-F7FE7C6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33E0F-5867-AE27-91E2-BEF0BA13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50C3-DA87-3C19-F6D6-72D456C7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6615A-E25F-6A86-239A-A2BA1140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3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A69C-F23F-A5F0-D3BC-E64A1140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62C34-EDE7-369A-3239-C8285C367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4360-36C4-238F-16C9-3519A566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205E-2A43-9036-ED5F-C3CE2529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1ACD1-1B9D-B504-A454-495AEB4C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6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DC89-3A8E-5FBD-5DB8-68FAD443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336B-1B56-2C94-02C0-0116D4C6F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ADBFC-8496-902D-D5A6-A0CA2C65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BD8E1-6F35-AF92-7E9B-1C1C64DF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CDB42-1CCC-B8F3-E67B-3A0114A5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02808-9BE6-AA74-AA19-7A0139A4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3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DA4C-C155-A20F-520D-DB8C8D36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0BCB0-E713-7C2B-9291-88B8858A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38244-A361-DC1B-D54B-6A1CA3F5F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51B08-2E28-CE69-8ECE-DB4F0ABEA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99BF8-7FEA-8698-3297-103139BAF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589AE-6454-1E41-9B64-06A2CC2D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26620-041F-889C-9275-C4DE7E68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3EF6F-637B-688B-6EE6-96E30A85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82B6-F762-584D-0D65-B1EA6400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CDB11-F399-6978-8663-BD75B9C4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F6A6F-4A70-C778-ABF5-23BD6AE9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CFE9B-13E4-4EE7-D709-A34BDE5A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6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B89F4-7637-9BAB-6344-42650400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5244B-F697-9BB8-1ED2-81491913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1800-C087-0C62-2FD4-AD16E795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2AB6-1DC3-A636-BC2E-B73739ED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69C69-1132-0424-C4B7-392CEF7A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F6E01-24F3-8807-51FC-B169C09AE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14155-0B2E-315E-2DFD-3322917A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29F47-7C53-CBFF-6F67-D79375F2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5F4DB-5EBB-50FE-A79E-64464B89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1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DCD2-5C7B-248E-6110-9CCA869A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B7BE1-F665-99D7-9683-3F4AD3602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F7D97-C635-65A0-2AC8-EEAD4645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6503A-149E-61BC-C394-EB7F7A7D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1FEE6-85F5-1706-BA43-9147185E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9B8BC-0938-D362-F9B1-51411427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1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339D-9BB6-AFBA-E436-0383B041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E1A8-8A01-24FB-EED3-1CD6079A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65D1-2163-A15A-3308-C656FAD0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6FBF1-1259-14F2-6299-3246C5A3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98CA9-CF65-05A5-D8FC-6BA66CFE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6FD50-9130-2E13-5EC2-1F49C61C1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873EF-B060-7D55-2022-0B3AF6E27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AC3A6-D54E-2687-E4C8-EB1C74B0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FEE5-B5F2-930F-B155-7F9B3382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B5626-403F-0D88-4EA7-58CD06A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9FDCE-8C8E-DCD9-51AB-C7CB2D11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E3AC3-7BB7-E88B-0BCA-AFBCA347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8E43A-FF2D-0B95-ADC7-3BC3D8C3F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E05CD-30B7-C440-B567-06235F5E522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68A5C-5992-B735-B6E7-80F92592F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6BE4-F7A2-D012-5FEF-F689D757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2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64A0-BF42-005F-9198-590049443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SMP544 activity across behavioral contexts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E1C79-137C-ADED-9778-5EEF3D33B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Imaging summary • locomotion, turning, and heat</a:t>
            </a:r>
          </a:p>
        </p:txBody>
      </p:sp>
    </p:spTree>
    <p:extLst>
      <p:ext uri="{BB962C8B-B14F-4D97-AF65-F5344CB8AC3E}">
        <p14:creationId xmlns:p14="http://schemas.microsoft.com/office/powerpoint/2010/main" val="3869265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4F3B-1580-9CF1-CCB3-29B31C92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SMP544 is recruited by locomotion and heat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6E15B-00D0-110B-F44E-E8EF1152B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Bilateral activity rises with forward walking in the strongest dark trial</a:t>
            </a:r>
          </a:p>
          <a:p>
            <a:r>
              <a:rPr lang="en-US" dirty="0"/>
              <a:t>Heat produces a sustained bilateral elevation beyond simple speed effects</a:t>
            </a:r>
          </a:p>
          <a:p>
            <a:r>
              <a:rPr lang="en-US" dirty="0"/>
              <a:t>Pivoting usually coincides with excitation, not inhibition</a:t>
            </a:r>
          </a:p>
          <a:p>
            <a:r>
              <a:rPr lang="en-US" dirty="0"/>
              <a:t>Slowdown-associated decreases are inconsistent across dark recordings</a:t>
            </a:r>
          </a:p>
          <a:p>
            <a:r>
              <a:rPr lang="en-US" dirty="0"/>
              <a:t>Interpretation: a context-dependent locomotor / arousal-state signal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8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1AA59-3A5D-AD05-422A-3BFA6F763446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20260720-3 | dark fly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F649F-E65A-7074-7B3B-BCEE43F16E9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7E02AC-9F76-24C2-C25B-4099D6F22B25}"/>
              </a:ext>
            </a:extLst>
          </p:cNvPr>
          <p:cNvSpPr txBox="1"/>
          <p:nvPr/>
        </p:nvSpPr>
        <p:spPr>
          <a:xfrm>
            <a:off x="9017000" y="1143000"/>
            <a:ext cx="2730500" cy="2970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Best dark trial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51.5%
</a:t>
            </a:r>
          </a:p>
          <a:p>
            <a:r>
              <a:rPr lang="en-US" sz="1700">
                <a:latin typeface="Aptos" panose="020B0004020202020204" pitchFamily="34" charset="0"/>
              </a:rPr>
              <a:t>Forward r: 0.48 right, 0.50 left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Bilateral activity follows repeated running bouts.</a:t>
            </a:r>
          </a:p>
        </p:txBody>
      </p:sp>
    </p:spTree>
    <p:extLst>
      <p:ext uri="{BB962C8B-B14F-4D97-AF65-F5344CB8AC3E}">
        <p14:creationId xmlns:p14="http://schemas.microsoft.com/office/powerpoint/2010/main" val="192927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7C7CE4-2426-BCAA-4382-111A3CD73C56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20260720-4 | dark fly 2, volume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B2385-B1DD-A488-27FB-92805C0D67C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48BCCB-C743-1804-DC66-26A83F1BA739}"/>
              </a:ext>
            </a:extLst>
          </p:cNvPr>
          <p:cNvSpPr txBox="1"/>
          <p:nvPr/>
        </p:nvSpPr>
        <p:spPr>
          <a:xfrm>
            <a:off x="9017000" y="1143000"/>
            <a:ext cx="2730500" cy="32316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Acceptable behavior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30.5%
</a:t>
            </a:r>
          </a:p>
          <a:p>
            <a:r>
              <a:rPr lang="en-US" sz="1700">
                <a:latin typeface="Aptos" panose="020B0004020202020204" pitchFamily="34" charset="0"/>
              </a:rPr>
              <a:t>Forward r: 0.22 right, 0.20 left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Weaker locomotor relationship; no clear slowdown inhibition.</a:t>
            </a:r>
          </a:p>
        </p:txBody>
      </p:sp>
    </p:spTree>
    <p:extLst>
      <p:ext uri="{BB962C8B-B14F-4D97-AF65-F5344CB8AC3E}">
        <p14:creationId xmlns:p14="http://schemas.microsoft.com/office/powerpoint/2010/main" val="123582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7A16B-30A1-9A09-34CD-249A37CCC113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20260720-5 | heat barrier, repaired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5191D-898F-153F-8681-92A9B59A4DF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EBA431-69E8-0116-3928-105B591D0987}"/>
              </a:ext>
            </a:extLst>
          </p:cNvPr>
          <p:cNvSpPr txBox="1"/>
          <p:nvPr/>
        </p:nvSpPr>
        <p:spPr>
          <a:xfrm>
            <a:off x="9017000" y="1143000"/>
            <a:ext cx="2730500" cy="2970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First 3,555 synchronized volumes only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Imaging was cropped to the DAQ interval.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Heat-active path is analyzable without extrapolating behavior.</a:t>
            </a:r>
          </a:p>
        </p:txBody>
      </p:sp>
    </p:spTree>
    <p:extLst>
      <p:ext uri="{BB962C8B-B14F-4D97-AF65-F5344CB8AC3E}">
        <p14:creationId xmlns:p14="http://schemas.microsoft.com/office/powerpoint/2010/main" val="2645772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6F94E-AFA8-01CD-B414-3B203275B77F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20260721-2 | closed-loop 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AD7E2-38E0-7A49-E1D0-D2B6ADFCC34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8FEA1-51DF-AD03-A114-67D9FF03C8BD}"/>
              </a:ext>
            </a:extLst>
          </p:cNvPr>
          <p:cNvSpPr txBox="1"/>
          <p:nvPr/>
        </p:nvSpPr>
        <p:spPr>
          <a:xfrm>
            <a:off x="9017000" y="1143000"/>
            <a:ext cx="2730500" cy="32316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Acceptable behavior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28.4%
</a:t>
            </a:r>
          </a:p>
          <a:p>
            <a:r>
              <a:rPr lang="en-US" sz="1700">
                <a:latin typeface="Aptos" panose="020B0004020202020204" pitchFamily="34" charset="0"/>
              </a:rPr>
              <a:t>Forward r: 0.35 right, 0.27 left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Moderate locomotor encoding with relatively low bilateral coupling.</a:t>
            </a:r>
          </a:p>
        </p:txBody>
      </p:sp>
    </p:spTree>
    <p:extLst>
      <p:ext uri="{BB962C8B-B14F-4D97-AF65-F5344CB8AC3E}">
        <p14:creationId xmlns:p14="http://schemas.microsoft.com/office/powerpoint/2010/main" val="82792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0B2176-5CD7-CB41-B92B-642AB3F9B766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20260721-3 | closed-loop 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182FA-57ED-07A9-8C38-EF96D03D7D1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50A358-524A-D542-A158-49DBBDF8629A}"/>
              </a:ext>
            </a:extLst>
          </p:cNvPr>
          <p:cNvSpPr txBox="1"/>
          <p:nvPr/>
        </p:nvSpPr>
        <p:spPr>
          <a:xfrm>
            <a:off x="9017000" y="1143000"/>
            <a:ext cx="2730500" cy="2970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Marginal behavior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15.5%
</a:t>
            </a:r>
          </a:p>
          <a:p>
            <a:r>
              <a:rPr lang="en-US" sz="1700">
                <a:latin typeface="Aptos" panose="020B0004020202020204" pitchFamily="34" charset="0"/>
              </a:rPr>
              <a:t>Forward r: 0.14-0.15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Retain cautiously; weak and delayed kinematic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256415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C1AE6-CC43-08C2-BC4E-42ED13CFF7C1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20260721-4 | open-loop heat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5DC7E-DA71-B858-4E34-8B1FE3F961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F247D-AECA-EB34-11B4-F9B9843C6889}"/>
              </a:ext>
            </a:extLst>
          </p:cNvPr>
          <p:cNvSpPr txBox="1"/>
          <p:nvPr/>
        </p:nvSpPr>
        <p:spPr>
          <a:xfrm>
            <a:off x="9017000" y="1143000"/>
            <a:ext cx="2730500" cy="32316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Strong heat-associated elevation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37.4%
</a:t>
            </a:r>
          </a:p>
          <a:p>
            <a:r>
              <a:rPr lang="en-US" sz="1700">
                <a:latin typeface="Aptos" panose="020B0004020202020204" pitchFamily="34" charset="0"/>
              </a:rPr>
              <a:t>Heat: 15.0% of samples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Mean dF/F rises bilaterally during heat, beyond simple speed effects.</a:t>
            </a:r>
          </a:p>
        </p:txBody>
      </p:sp>
    </p:spTree>
    <p:extLst>
      <p:ext uri="{BB962C8B-B14F-4D97-AF65-F5344CB8AC3E}">
        <p14:creationId xmlns:p14="http://schemas.microsoft.com/office/powerpoint/2010/main" val="30025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BBBD7B-F556-80AB-FA18-4660BCC9543E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20260722-2 | closed-loop 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1E623-AB52-B971-6000-75CA4B3CFE2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8D8FC8-0788-389B-0607-0D75F6074B75}"/>
              </a:ext>
            </a:extLst>
          </p:cNvPr>
          <p:cNvSpPr txBox="1"/>
          <p:nvPr/>
        </p:nvSpPr>
        <p:spPr>
          <a:xfrm>
            <a:off x="9017000" y="1143000"/>
            <a:ext cx="2730500" cy="34932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Acceptable behavior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28.0%
</a:t>
            </a:r>
          </a:p>
          <a:p>
            <a:r>
              <a:rPr lang="en-US" sz="1700">
                <a:latin typeface="Aptos" panose="020B0004020202020204" pitchFamily="34" charset="0"/>
              </a:rPr>
              <a:t>Forward r: 0.25-0.28
</a:t>
            </a:r>
          </a:p>
          <a:p>
            <a:r>
              <a:rPr lang="en-US" sz="1700">
                <a:latin typeface="Aptos" panose="020B0004020202020204" pitchFamily="34" charset="0"/>
              </a:rPr>
              <a:t>Rotational speed r: 0.33-0.34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Both forward and turning intensity contribute.</a:t>
            </a:r>
          </a:p>
        </p:txBody>
      </p:sp>
    </p:spTree>
    <p:extLst>
      <p:ext uri="{BB962C8B-B14F-4D97-AF65-F5344CB8AC3E}">
        <p14:creationId xmlns:p14="http://schemas.microsoft.com/office/powerpoint/2010/main" val="76481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247B30-BCFA-BEDE-5892-EDB39A60F182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20260722-3 | open-loop heat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90214-295A-1275-9E70-6FA2BDF48D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9D55A8-383B-6861-B366-B7D2ED78130D}"/>
              </a:ext>
            </a:extLst>
          </p:cNvPr>
          <p:cNvSpPr txBox="1"/>
          <p:nvPr/>
        </p:nvSpPr>
        <p:spPr>
          <a:xfrm>
            <a:off x="9017000" y="1143000"/>
            <a:ext cx="2730500" cy="32316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Strongest bilateral heat trial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20.2%
</a:t>
            </a:r>
          </a:p>
          <a:p>
            <a:r>
              <a:rPr lang="en-US" sz="1700">
                <a:latin typeface="Aptos" panose="020B0004020202020204" pitchFamily="34" charset="0"/>
              </a:rPr>
              <a:t>Right-left r: 0.80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Heat and vigorous movement coincide with high bilateral activity.</a:t>
            </a:r>
          </a:p>
        </p:txBody>
      </p:sp>
    </p:spTree>
    <p:extLst>
      <p:ext uri="{BB962C8B-B14F-4D97-AF65-F5344CB8AC3E}">
        <p14:creationId xmlns:p14="http://schemas.microsoft.com/office/powerpoint/2010/main" val="25995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306</Words>
  <Application>Microsoft Macintosh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SMP544 activity across behavioral contexts</vt:lpstr>
      <vt:lpstr>SMP544 is recruited by locomotion and heat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Renauld, Sophia</dc:creator>
  <cp:lastModifiedBy>Renauld, Sophia</cp:lastModifiedBy>
  <cp:revision>6</cp:revision>
  <dcterms:created xsi:type="dcterms:W3CDTF">2026-08-27T16:48:08Z</dcterms:created>
  <dcterms:modified xsi:type="dcterms:W3CDTF">2026-08-27T17:07:17Z</dcterms:modified>
</cp:coreProperties>
</file>